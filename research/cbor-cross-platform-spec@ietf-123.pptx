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10"/>
  </p:notesMasterIdLst>
  <p:sldIdLst>
    <p:sldId id="266" r:id="rId2"/>
    <p:sldId id="267" r:id="rId3"/>
    <p:sldId id="271" r:id="rId4"/>
    <p:sldId id="270" r:id="rId5"/>
    <p:sldId id="273" r:id="rId6"/>
    <p:sldId id="269" r:id="rId7"/>
    <p:sldId id="274" r:id="rId8"/>
    <p:sldId id="26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355"/>
    <a:srgbClr val="FFFBF2"/>
    <a:srgbClr val="FFFCF7"/>
    <a:srgbClr val="FFFDA6"/>
    <a:srgbClr val="FFF7E8"/>
    <a:srgbClr val="FCFFE4"/>
    <a:srgbClr val="FCF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830"/>
  </p:normalViewPr>
  <p:slideViewPr>
    <p:cSldViewPr snapToGrid="0">
      <p:cViewPr varScale="1">
        <p:scale>
          <a:sx n="121" d="100"/>
          <a:sy n="121" d="100"/>
        </p:scale>
        <p:origin x="89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12DC2B-A868-EB48-BC74-89BE29D1DE6E}" type="datetimeFigureOut">
              <a:rPr lang="en-US" smtClean="0"/>
              <a:t>6/21/25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5AEAB-4CBB-0042-9A5E-12B0D378A0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771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5AEAB-4CBB-0042-9A5E-12B0D378A04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087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5AEAB-4CBB-0042-9A5E-12B0D378A04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826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84DB-129F-46F6-AFA8-9C7608601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6530D9-1FE3-5877-B030-600801068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6A2E3C-1083-2AAF-75FA-B6540F8DE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AFBC8-94EF-3D4D-AED4-56C519E94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5AEAB-4CBB-0042-9A5E-12B0D378A04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483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77BF5-49F4-E192-4CCE-5D8AC21F0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D87814-89C7-ED70-AF3A-92D0CAD90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45765-CDD8-DCC1-A67F-5C3162269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CCEB6-2E66-2A29-7870-C2192074F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5AEAB-4CBB-0042-9A5E-12B0D378A04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277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8D5D0-4E5E-08D5-E960-4A489D799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6A0B5C-F2A3-0027-D7EC-1BEE5F6DD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DF31A5-414E-A17B-9C1A-28A404EB3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1CFD3-0407-F658-4600-353D7110FA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5AEAB-4CBB-0042-9A5E-12B0D378A04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796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142E3-94F0-7F30-C1C9-AE9DA5BF3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7DD40-1C32-B3EE-F2AC-7FF6F5353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BA6F1-FC1E-9327-C328-2C125B6BA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D40F2-3024-1759-D941-41D75FC46F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5AEAB-4CBB-0042-9A5E-12B0D378A04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430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1FF09-757D-9FC1-C07F-72E9A28BC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18A0F4-C5C1-E734-DF33-2A6FE788B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3B8D33-4B72-D618-A478-283A62323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A2FC5-FB87-2B4F-9BCA-9B7CA6D6F9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5AEAB-4CBB-0042-9A5E-12B0D378A04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156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56CE-167F-78DF-B0BC-C7A1EB310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976DD-DFC0-65A0-40D5-25BEFEC91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0E4C8-03BE-C364-96A8-526E8157A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B28F5-2D3A-7155-23D7-77972BD249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5AEAB-4CBB-0042-9A5E-12B0D378A04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842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912662C-1CDE-D428-D227-E68D938E5B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479" y="106708"/>
            <a:ext cx="904460" cy="5168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25FE97-5AE2-0CF0-F9E2-613ACD3EBBD6}"/>
              </a:ext>
            </a:extLst>
          </p:cNvPr>
          <p:cNvSpPr txBox="1"/>
          <p:nvPr userDrawn="1"/>
        </p:nvSpPr>
        <p:spPr>
          <a:xfrm>
            <a:off x="0" y="6611779"/>
            <a:ext cx="3432350" cy="24622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err="1"/>
              <a:t>A.Rundgren</a:t>
            </a:r>
            <a:r>
              <a:rPr lang="en-US" sz="1000" dirty="0"/>
              <a:t>, CBOR::Core - CBOR Cross-Platform Specification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F2F5BD-CA4F-97EC-24B1-0CF1BC2C8E46}"/>
              </a:ext>
            </a:extLst>
          </p:cNvPr>
          <p:cNvSpPr txBox="1"/>
          <p:nvPr userDrawn="1"/>
        </p:nvSpPr>
        <p:spPr>
          <a:xfrm>
            <a:off x="8403763" y="6615313"/>
            <a:ext cx="731290" cy="24622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/>
            <a:r>
              <a:rPr lang="en-US" sz="1000" dirty="0"/>
              <a:t>Page </a:t>
            </a:r>
            <a:fld id="{07CFA2E1-6809-964B-AD46-95BA28ED9F1A}" type="slidenum">
              <a:rPr lang="en-US" sz="1000" smtClean="0"/>
              <a:pPr algn="r"/>
              <a:t>‹#›</a:t>
            </a:fld>
            <a:r>
              <a:rPr lang="en-US" sz="1000" dirty="0"/>
              <a:t>/8</a:t>
            </a:r>
          </a:p>
        </p:txBody>
      </p:sp>
    </p:spTree>
    <p:extLst>
      <p:ext uri="{BB962C8B-B14F-4D97-AF65-F5344CB8AC3E}">
        <p14:creationId xmlns:p14="http://schemas.microsoft.com/office/powerpoint/2010/main" val="804490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607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fc-editor.org/rfc/rfc8949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atatracker.ietf.org/doc/draft-rundgren-cbor-cor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413C2B-BC6D-99A2-25F9-759512C50268}"/>
              </a:ext>
            </a:extLst>
          </p:cNvPr>
          <p:cNvSpPr txBox="1"/>
          <p:nvPr/>
        </p:nvSpPr>
        <p:spPr>
          <a:xfrm>
            <a:off x="2343922" y="2105069"/>
            <a:ext cx="4456155" cy="224676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44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CBOR</a:t>
            </a:r>
            <a:r>
              <a:rPr lang="en-US" sz="40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400" noProof="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Core</a:t>
            </a:r>
            <a:br>
              <a:rPr lang="en-US" sz="24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noProof="0" dirty="0"/>
              <a:t>CBOR Cross-Platform Specification</a:t>
            </a:r>
          </a:p>
          <a:p>
            <a:pPr algn="ctr"/>
            <a:endParaRPr lang="en-US" sz="2400" noProof="0" dirty="0"/>
          </a:p>
          <a:p>
            <a:pPr algn="ctr"/>
            <a:r>
              <a:rPr lang="en-US" sz="2400" noProof="0" dirty="0"/>
              <a:t>Anders Rundgren, </a:t>
            </a:r>
            <a:r>
              <a:rPr lang="en-US" sz="2400" noProof="0" dirty="0" err="1"/>
              <a:t>WebPKI.org</a:t>
            </a:r>
            <a:endParaRPr lang="en-US" sz="2400" noProof="0" dirty="0"/>
          </a:p>
          <a:p>
            <a:pPr algn="ctr"/>
            <a:r>
              <a:rPr lang="en-US" sz="2400" noProof="0" dirty="0"/>
              <a:t>2025-06-21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72D2F40-0ECE-8EA3-28E3-ADD512723B8E}"/>
              </a:ext>
            </a:extLst>
          </p:cNvPr>
          <p:cNvSpPr>
            <a:spLocks noChangeAspect="1"/>
          </p:cNvSpPr>
          <p:nvPr/>
        </p:nvSpPr>
        <p:spPr>
          <a:xfrm>
            <a:off x="4480350" y="2394347"/>
            <a:ext cx="54864" cy="54864"/>
          </a:xfrm>
          <a:prstGeom prst="ellipse">
            <a:avLst/>
          </a:prstGeom>
          <a:solidFill>
            <a:schemeClr val="bg1"/>
          </a:solidFill>
          <a:ln w="158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C0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6B7098-5F17-62F2-2756-35B4C34EA86E}"/>
              </a:ext>
            </a:extLst>
          </p:cNvPr>
          <p:cNvSpPr>
            <a:spLocks noChangeAspect="1"/>
          </p:cNvSpPr>
          <p:nvPr/>
        </p:nvSpPr>
        <p:spPr>
          <a:xfrm>
            <a:off x="4480350" y="2545332"/>
            <a:ext cx="54864" cy="54864"/>
          </a:xfrm>
          <a:prstGeom prst="ellipse">
            <a:avLst/>
          </a:prstGeom>
          <a:solidFill>
            <a:schemeClr val="bg1"/>
          </a:solidFill>
          <a:ln w="158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C00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E4B93FA-3996-3BDD-FD48-CB558607D61F}"/>
              </a:ext>
            </a:extLst>
          </p:cNvPr>
          <p:cNvSpPr>
            <a:spLocks noChangeAspect="1"/>
          </p:cNvSpPr>
          <p:nvPr/>
        </p:nvSpPr>
        <p:spPr>
          <a:xfrm>
            <a:off x="4611082" y="2394347"/>
            <a:ext cx="54864" cy="54864"/>
          </a:xfrm>
          <a:prstGeom prst="ellipse">
            <a:avLst/>
          </a:prstGeom>
          <a:solidFill>
            <a:schemeClr val="bg1"/>
          </a:solidFill>
          <a:ln w="158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C0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812FF86-F951-0D84-C30D-F93565F340B9}"/>
              </a:ext>
            </a:extLst>
          </p:cNvPr>
          <p:cNvSpPr>
            <a:spLocks noChangeAspect="1"/>
          </p:cNvSpPr>
          <p:nvPr/>
        </p:nvSpPr>
        <p:spPr>
          <a:xfrm>
            <a:off x="4611082" y="2545332"/>
            <a:ext cx="54864" cy="54864"/>
          </a:xfrm>
          <a:prstGeom prst="ellipse">
            <a:avLst/>
          </a:prstGeom>
          <a:solidFill>
            <a:schemeClr val="bg1"/>
          </a:solidFill>
          <a:ln w="158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337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413C2B-BC6D-99A2-25F9-759512C50268}"/>
              </a:ext>
            </a:extLst>
          </p:cNvPr>
          <p:cNvSpPr txBox="1"/>
          <p:nvPr/>
        </p:nvSpPr>
        <p:spPr>
          <a:xfrm>
            <a:off x="1440021" y="772597"/>
            <a:ext cx="62639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noProof="0" dirty="0"/>
              <a:t>Why not just continue with JSON forever?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2C7C49-8BFF-076B-F879-979B67D80D34}"/>
              </a:ext>
            </a:extLst>
          </p:cNvPr>
          <p:cNvSpPr txBox="1"/>
          <p:nvPr/>
        </p:nvSpPr>
        <p:spPr>
          <a:xfrm>
            <a:off x="490173" y="1748127"/>
            <a:ext cx="8318635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noProof="0" dirty="0"/>
              <a:t>Well…</a:t>
            </a:r>
          </a:p>
          <a:p>
            <a:pPr marL="251460" indent="-25146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noProof="0" dirty="0"/>
              <a:t>IETF standards [</a:t>
            </a:r>
            <a:r>
              <a:rPr lang="en-US" sz="2400" dirty="0"/>
              <a:t>in practice</a:t>
            </a:r>
            <a:r>
              <a:rPr lang="en-US" sz="2400" noProof="0" dirty="0"/>
              <a:t>] rather use RFC 7493 aka “I-JSON”</a:t>
            </a:r>
          </a:p>
          <a:p>
            <a:pPr marL="251460" indent="-25146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noProof="0" dirty="0"/>
              <a:t>The JavaScript “JSON” object in browsers is extremely limited</a:t>
            </a:r>
            <a:endParaRPr lang="en-US" sz="2400" baseline="30000" noProof="0" dirty="0"/>
          </a:p>
          <a:p>
            <a:pPr marL="251460" indent="-25146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noProof="0" dirty="0"/>
              <a:t>JSON has no “blob” support. Base64 is all over the place</a:t>
            </a:r>
            <a:endParaRPr lang="en-US" sz="2400" baseline="30000" noProof="0" dirty="0"/>
          </a:p>
          <a:p>
            <a:pPr marL="251460" indent="-25146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noProof="0" dirty="0"/>
              <a:t>JSON has no deterministic mode.  RFC 8785 is not the same</a:t>
            </a:r>
            <a:endParaRPr lang="en-US" sz="2400" baseline="30000" noProof="0" dirty="0"/>
          </a:p>
          <a:p>
            <a:pPr marL="251460" indent="-25146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noProof="0" dirty="0"/>
              <a:t>JSON has no extension mechanism</a:t>
            </a:r>
            <a:endParaRPr lang="en-US" sz="2400" baseline="30000" noProof="0" dirty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aseline="30000" noProof="0" dirty="0"/>
          </a:p>
          <a:p>
            <a:pPr>
              <a:spcAft>
                <a:spcPts val="600"/>
              </a:spcAft>
            </a:pPr>
            <a:r>
              <a:rPr lang="en-US" sz="2400" noProof="0" dirty="0"/>
              <a:t>Properly packaged, CBOR [</a:t>
            </a:r>
            <a:r>
              <a:rPr lang="en-US" sz="2400" noProof="0" dirty="0">
                <a:hlinkClick r:id="rId3"/>
              </a:rPr>
              <a:t>RFC 8949</a:t>
            </a:r>
            <a:r>
              <a:rPr lang="en-US" sz="2400" noProof="0" dirty="0"/>
              <a:t>] </a:t>
            </a:r>
            <a:r>
              <a:rPr lang="en-US" sz="2400" dirty="0"/>
              <a:t>represents</a:t>
            </a:r>
            <a:r>
              <a:rPr lang="en-US" sz="2400" noProof="0" dirty="0"/>
              <a:t> a powerful alternative, unhampered </a:t>
            </a:r>
            <a:r>
              <a:rPr lang="en-US" sz="2400" noProof="0"/>
              <a:t>by JSON legacy:</a:t>
            </a:r>
            <a:br>
              <a:rPr lang="en-US" sz="2400" noProof="0" dirty="0"/>
            </a:br>
            <a:r>
              <a:rPr lang="en-US" sz="2400" noProof="0" dirty="0">
                <a:hlinkClick r:id="rId4"/>
              </a:rPr>
              <a:t>https://datatracker.ietf.org/doc/draft-rundgren-cbor-core/</a:t>
            </a:r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3381563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11712-AC88-66FF-6CC1-A3C83221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314191-33DE-3BB4-1116-768A1520B897}"/>
              </a:ext>
            </a:extLst>
          </p:cNvPr>
          <p:cNvSpPr txBox="1"/>
          <p:nvPr/>
        </p:nvSpPr>
        <p:spPr>
          <a:xfrm>
            <a:off x="965522" y="735530"/>
            <a:ext cx="7237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Developers see CBOR as a set of data types + API</a:t>
            </a:r>
            <a:endParaRPr lang="en-US" sz="2800" noProof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C7471C6-B37C-EC2E-7EE9-49D6C578C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637372"/>
              </p:ext>
            </p:extLst>
          </p:nvPr>
        </p:nvGraphicFramePr>
        <p:xfrm>
          <a:off x="1989441" y="1359929"/>
          <a:ext cx="5165125" cy="4450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1583647">
                  <a:extLst>
                    <a:ext uri="{9D8B030D-6E8A-4147-A177-3AD203B41FA5}">
                      <a16:colId xmlns:a16="http://schemas.microsoft.com/office/drawing/2014/main" val="2776045832"/>
                    </a:ext>
                  </a:extLst>
                </a:gridCol>
                <a:gridCol w="1900955">
                  <a:extLst>
                    <a:ext uri="{9D8B030D-6E8A-4147-A177-3AD203B41FA5}">
                      <a16:colId xmlns:a16="http://schemas.microsoft.com/office/drawing/2014/main" val="3728612745"/>
                    </a:ext>
                  </a:extLst>
                </a:gridCol>
                <a:gridCol w="1680523">
                  <a:extLst>
                    <a:ext uri="{9D8B030D-6E8A-4147-A177-3AD203B41FA5}">
                      <a16:colId xmlns:a16="http://schemas.microsoft.com/office/drawing/2014/main" val="745234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CBOR/CDDL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 Wrapper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JavaScript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969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CBOR.Int</a:t>
                      </a:r>
                      <a:endParaRPr lang="en-US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063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bigint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CBOR.BigInt</a:t>
                      </a:r>
                      <a:endParaRPr lang="en-US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BigInt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882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CBOR.Float</a:t>
                      </a:r>
                      <a:endParaRPr lang="en-US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312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bstr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CBOR.Bytes</a:t>
                      </a:r>
                      <a:endParaRPr lang="en-US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Uint8Array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382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tstr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CBOR.String</a:t>
                      </a:r>
                      <a:endParaRPr lang="en-US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0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CBOR.Boolean</a:t>
                      </a:r>
                      <a:endParaRPr lang="en-US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Boolean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560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CBOR.Null</a:t>
                      </a:r>
                      <a:endParaRPr lang="en-US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79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CBOR.Array</a:t>
                      </a:r>
                      <a:endParaRPr lang="en-US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876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CBOR.Map</a:t>
                      </a:r>
                      <a:endParaRPr lang="en-US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051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#6.n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CBOR.Tag</a:t>
                      </a:r>
                      <a:endParaRPr lang="en-US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422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#7.n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CBOR.Simple</a:t>
                      </a:r>
                      <a:endParaRPr lang="en-US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88171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D2C6DE6-025D-5BB3-DCED-C16835901456}"/>
              </a:ext>
            </a:extLst>
          </p:cNvPr>
          <p:cNvSpPr txBox="1"/>
          <p:nvPr/>
        </p:nvSpPr>
        <p:spPr>
          <a:xfrm>
            <a:off x="642560" y="6022400"/>
            <a:ext cx="774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noProof="0" dirty="0"/>
              <a:t>Object Wrappers are </a:t>
            </a:r>
            <a:r>
              <a:rPr lang="en-US" i="1" noProof="0" dirty="0"/>
              <a:t>bi-directional</a:t>
            </a:r>
            <a:r>
              <a:rPr lang="en-US" noProof="0" dirty="0"/>
              <a:t>, </a:t>
            </a:r>
            <a:r>
              <a:rPr lang="en-US" i="1" noProof="0" dirty="0"/>
              <a:t>type-checking</a:t>
            </a:r>
            <a:r>
              <a:rPr lang="en-US" noProof="0" dirty="0"/>
              <a:t>, and </a:t>
            </a:r>
            <a:r>
              <a:rPr lang="en-US" i="1" noProof="0" dirty="0"/>
              <a:t>self-rendering</a:t>
            </a:r>
            <a:r>
              <a:rPr lang="en-US" noProof="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8CDAC-13B4-23F4-A09E-CE30898754C8}"/>
              </a:ext>
            </a:extLst>
          </p:cNvPr>
          <p:cNvSpPr txBox="1"/>
          <p:nvPr/>
        </p:nvSpPr>
        <p:spPr>
          <a:xfrm rot="5400000">
            <a:off x="7060335" y="3022171"/>
            <a:ext cx="3055869" cy="37457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Ins="45720" rtlCol="0">
            <a:spAutoFit/>
          </a:bodyPr>
          <a:lstStyle/>
          <a:p>
            <a:pPr algn="l"/>
            <a:r>
              <a:rPr lang="en-US" sz="1600" dirty="0"/>
              <a:t>Non-normative JavaScript Example</a:t>
            </a:r>
          </a:p>
        </p:txBody>
      </p:sp>
    </p:spTree>
    <p:extLst>
      <p:ext uri="{BB962C8B-B14F-4D97-AF65-F5344CB8AC3E}">
        <p14:creationId xmlns:p14="http://schemas.microsoft.com/office/powerpoint/2010/main" val="42734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E4EA-FE4F-27F9-5463-4CE8C96C2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129620-331F-C030-C97D-2491648CA9DF}"/>
              </a:ext>
            </a:extLst>
          </p:cNvPr>
          <p:cNvSpPr txBox="1"/>
          <p:nvPr/>
        </p:nvSpPr>
        <p:spPr>
          <a:xfrm>
            <a:off x="3003467" y="474861"/>
            <a:ext cx="2520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noProof="0" dirty="0"/>
              <a:t>Encode CBOR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D38532-EAE8-0B75-E54B-AF17CCBC288C}"/>
              </a:ext>
            </a:extLst>
          </p:cNvPr>
          <p:cNvSpPr txBox="1"/>
          <p:nvPr/>
        </p:nvSpPr>
        <p:spPr>
          <a:xfrm>
            <a:off x="568411" y="998801"/>
            <a:ext cx="7389844" cy="166199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82880" tIns="91440" rIns="45720" bIns="91440" rtlCol="0">
            <a:spAutoFit/>
          </a:bodyPr>
          <a:lstStyle/>
          <a:p>
            <a:pPr algn="l"/>
            <a:r>
              <a:rPr lang="en-US" sz="1600" b="1" i="0" noProof="0" dirty="0">
                <a:solidFill>
                  <a:schemeClr val="accent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1600" b="1" i="0" noProof="0" dirty="0" err="1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cbor</a:t>
            </a: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= </a:t>
            </a:r>
            <a:r>
              <a:rPr lang="en-US" sz="1600" b="1" i="0" noProof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CBOR</a:t>
            </a:r>
            <a:r>
              <a:rPr lang="en-US" sz="1600" b="1" i="0" noProof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i="0" noProof="0" dirty="0" err="1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US" sz="16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.</a:t>
            </a:r>
            <a:r>
              <a:rPr lang="en-US" sz="1600" b="1" i="0" noProof="0" dirty="0">
                <a:solidFill>
                  <a:schemeClr val="accent4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i="0" noProof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CBOR</a:t>
            </a:r>
            <a:r>
              <a:rPr lang="en-US" sz="1600" b="1" i="0" noProof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i="0" noProof="0" dirty="0" err="1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(1), </a:t>
            </a:r>
            <a:r>
              <a:rPr lang="en-US" sz="1600" b="1" i="0" noProof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CBOR</a:t>
            </a:r>
            <a:r>
              <a:rPr lang="en-US" sz="1600" b="1" i="0" noProof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i="0" noProof="0" dirty="0" err="1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(45.7))</a:t>
            </a:r>
            <a:br>
              <a:rPr lang="en-US" sz="16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.</a:t>
            </a:r>
            <a:r>
              <a:rPr lang="en-US" sz="1600" b="1" i="0" noProof="0" dirty="0">
                <a:solidFill>
                  <a:schemeClr val="accent4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i="0" noProof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CBOR</a:t>
            </a:r>
            <a:r>
              <a:rPr lang="en-US" sz="1600" b="1" i="0" noProof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i="0" noProof="0" dirty="0" err="1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(2), </a:t>
            </a:r>
            <a:r>
              <a:rPr lang="en-US" sz="1600" b="1" i="0" noProof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CBOR</a:t>
            </a:r>
            <a:r>
              <a:rPr lang="en-US" sz="1600" b="1" i="0" noProof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i="0" noProof="0" dirty="0" err="1">
                <a:solidFill>
                  <a:schemeClr val="accent6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("Hi there!")).</a:t>
            </a:r>
            <a:r>
              <a:rPr lang="en-US" sz="1600" b="1" i="0" noProof="0" dirty="0">
                <a:solidFill>
                  <a:schemeClr val="accent4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encode</a:t>
            </a: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b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sz="16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i="0" noProof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1600" b="1" i="0" noProof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i="0" noProof="0" dirty="0" err="1">
                <a:solidFill>
                  <a:schemeClr val="accent4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log</a:t>
            </a: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i="0" noProof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CBOR</a:t>
            </a:r>
            <a:r>
              <a:rPr lang="en-US" sz="1600" b="1" i="0" noProof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i="0" noProof="0" dirty="0" err="1">
                <a:solidFill>
                  <a:schemeClr val="accent4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toHex</a:t>
            </a: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i="0" noProof="0" dirty="0" err="1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cbor</a:t>
            </a: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br>
              <a:rPr lang="en-US" sz="16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i="0" noProof="0" dirty="0">
                <a:solidFill>
                  <a:schemeClr val="bg1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a201fb4046d9999999999a0269486920746865726521</a:t>
            </a:r>
            <a:endParaRPr lang="en-US" sz="1600" b="1" noProof="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35B70B-2590-5A50-4354-A1106A75498C}"/>
              </a:ext>
            </a:extLst>
          </p:cNvPr>
          <p:cNvSpPr txBox="1"/>
          <p:nvPr/>
        </p:nvSpPr>
        <p:spPr>
          <a:xfrm rot="5400000">
            <a:off x="7060335" y="3022171"/>
            <a:ext cx="3055869" cy="37457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Ins="45720" rtlCol="0">
            <a:spAutoFit/>
          </a:bodyPr>
          <a:lstStyle/>
          <a:p>
            <a:pPr algn="l"/>
            <a:r>
              <a:rPr lang="en-US" sz="1600" dirty="0"/>
              <a:t>Non-normative JavaScript 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BBF0F-D0BD-E5D3-4D3D-B8772AB52B1F}"/>
              </a:ext>
            </a:extLst>
          </p:cNvPr>
          <p:cNvSpPr txBox="1"/>
          <p:nvPr/>
        </p:nvSpPr>
        <p:spPr>
          <a:xfrm>
            <a:off x="564295" y="3728442"/>
            <a:ext cx="7389844" cy="264687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82880" tIns="91440" rIns="45720" bIns="91440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 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= </a:t>
            </a:r>
            <a:r>
              <a:rPr lang="en-US" sz="1600" b="1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CBOR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decode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cbor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 // Use result from encode</a:t>
            </a:r>
            <a:b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16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 Diagnostic notation</a:t>
            </a:r>
            <a:b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1: 45.7,</a:t>
            </a:r>
            <a:b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2: "Hi there!"</a:t>
            </a:r>
            <a:b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Value=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+ 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CBOR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(1)).</a:t>
            </a: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getFloat64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b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Value=45.7</a:t>
            </a:r>
            <a:endParaRPr lang="en-US" sz="1600" b="1" noProof="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7D4AE4-ACD2-AFAE-B0FF-DF5074DE2D5A}"/>
              </a:ext>
            </a:extLst>
          </p:cNvPr>
          <p:cNvSpPr txBox="1"/>
          <p:nvPr/>
        </p:nvSpPr>
        <p:spPr>
          <a:xfrm>
            <a:off x="3004711" y="3209832"/>
            <a:ext cx="2551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De</a:t>
            </a:r>
            <a:r>
              <a:rPr lang="en-US" sz="2400" noProof="0" dirty="0"/>
              <a:t>code CBOR Data</a:t>
            </a:r>
          </a:p>
        </p:txBody>
      </p:sp>
    </p:spTree>
    <p:extLst>
      <p:ext uri="{BB962C8B-B14F-4D97-AF65-F5344CB8AC3E}">
        <p14:creationId xmlns:p14="http://schemas.microsoft.com/office/powerpoint/2010/main" val="3277318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33181-C79E-56EB-6DDA-AB9DB4592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D55098-2097-CCC0-42D4-9F2E2376FE98}"/>
              </a:ext>
            </a:extLst>
          </p:cNvPr>
          <p:cNvSpPr txBox="1"/>
          <p:nvPr/>
        </p:nvSpPr>
        <p:spPr>
          <a:xfrm>
            <a:off x="1462028" y="771427"/>
            <a:ext cx="5603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noProof="0" dirty="0"/>
              <a:t>Strict Type Checking API – Also </a:t>
            </a:r>
            <a:r>
              <a:rPr lang="en-US" sz="2400" dirty="0"/>
              <a:t>in JavaScript</a:t>
            </a:r>
            <a:endParaRPr lang="en-US" sz="2400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997B53-C1C8-5231-9EA1-7AE6F18E2FD1}"/>
              </a:ext>
            </a:extLst>
          </p:cNvPr>
          <p:cNvSpPr txBox="1"/>
          <p:nvPr/>
        </p:nvSpPr>
        <p:spPr>
          <a:xfrm>
            <a:off x="568411" y="3050034"/>
            <a:ext cx="7389844" cy="215443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82880" tIns="91440" rIns="45720" bIns="91440" rtlCol="0">
            <a:spAutoFit/>
          </a:bodyPr>
          <a:lstStyle/>
          <a:p>
            <a:r>
              <a:rPr lang="en-US" sz="1600" b="1" i="0" noProof="0" dirty="0">
                <a:solidFill>
                  <a:schemeClr val="accent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1600" b="1" i="0" noProof="0" dirty="0" err="1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cbor</a:t>
            </a: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= </a:t>
            </a:r>
            <a:r>
              <a:rPr lang="en-US" sz="1600" b="1" i="0" noProof="0" dirty="0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CBOR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diagDecode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(`{</a:t>
            </a:r>
            <a:b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 Comments are also permitted</a:t>
            </a:r>
            <a:b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1: 45.7,</a:t>
            </a:r>
            <a:b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 2: "Hi there!"</a:t>
            </a:r>
            <a:b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}`</a:t>
            </a:r>
            <a:r>
              <a:rPr lang="en-US" sz="1600" b="1" i="0" noProof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sz="1600" b="1" i="0" noProof="0" dirty="0">
                <a:solidFill>
                  <a:schemeClr val="accent4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encode</a:t>
            </a: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b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sz="16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i="0" noProof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1600" b="1" i="0" noProof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i="0" noProof="0" dirty="0" err="1">
                <a:solidFill>
                  <a:schemeClr val="accent4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log</a:t>
            </a: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i="0" noProof="0" dirty="0" err="1">
                <a:solidFill>
                  <a:schemeClr val="accent2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CBOR</a:t>
            </a:r>
            <a:r>
              <a:rPr lang="en-US" sz="1600" b="1" i="0" noProof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i="0" noProof="0" dirty="0" err="1">
                <a:solidFill>
                  <a:schemeClr val="accent4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toHex</a:t>
            </a: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i="0" noProof="0" dirty="0" err="1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cbor</a:t>
            </a:r>
            <a:r>
              <a:rPr lang="en-US" sz="1600" b="1" i="0" noProof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));                            </a:t>
            </a:r>
            <a:br>
              <a:rPr lang="en-US" sz="16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i="0" noProof="0" dirty="0">
                <a:solidFill>
                  <a:schemeClr val="bg1">
                    <a:lumMod val="50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a201fb4046d9999999999a0269486920746865726521</a:t>
            </a:r>
            <a:endParaRPr lang="en-US" sz="1600" b="1" noProof="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CF1F90-797E-4346-7BCE-D0D85AAA7617}"/>
              </a:ext>
            </a:extLst>
          </p:cNvPr>
          <p:cNvSpPr txBox="1"/>
          <p:nvPr/>
        </p:nvSpPr>
        <p:spPr>
          <a:xfrm>
            <a:off x="564295" y="1318872"/>
            <a:ext cx="7389844" cy="6771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82880" tIns="91440" rIns="45720" bIns="91440" rtlCol="0">
            <a:spAutoFit/>
          </a:bodyPr>
          <a:lstStyle/>
          <a:p>
            <a:r>
              <a:rPr lang="en-US" sz="1600" b="1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Value=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+ </a:t>
            </a:r>
            <a:r>
              <a:rPr lang="en-US" sz="16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CBOR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(1)).</a:t>
            </a:r>
            <a:r>
              <a:rPr lang="en-US" sz="1600" b="1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getString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()); </a:t>
            </a:r>
            <a:br>
              <a:rPr lang="en-US" sz="16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Uncaught 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CborError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Expected 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CBOR.String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got: 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CBOR.Float</a:t>
            </a:r>
            <a:endParaRPr lang="en-US" sz="16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4D7154-80F6-0CFC-D867-A3608B0076E9}"/>
              </a:ext>
            </a:extLst>
          </p:cNvPr>
          <p:cNvSpPr txBox="1"/>
          <p:nvPr/>
        </p:nvSpPr>
        <p:spPr>
          <a:xfrm>
            <a:off x="1490362" y="2530213"/>
            <a:ext cx="5579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De</a:t>
            </a:r>
            <a:r>
              <a:rPr lang="en-US" sz="2400" noProof="0" dirty="0"/>
              <a:t>code Diagnostic Notation (Textual CBOR)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A06D14-13E7-3BEB-DFD0-CFB5CBF58DDA}"/>
              </a:ext>
            </a:extLst>
          </p:cNvPr>
          <p:cNvSpPr txBox="1"/>
          <p:nvPr/>
        </p:nvSpPr>
        <p:spPr>
          <a:xfrm>
            <a:off x="1242797" y="5265184"/>
            <a:ext cx="59126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Diagnostic Notation as input format has many uses including:</a:t>
            </a:r>
          </a:p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noProof="0" dirty="0"/>
              <a:t>Config files</a:t>
            </a:r>
          </a:p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dirty="0"/>
              <a:t>Test data</a:t>
            </a:r>
          </a:p>
          <a:p>
            <a:pPr marL="251460" indent="-251460">
              <a:buFont typeface="Arial" panose="020B0604020202020204" pitchFamily="34" charset="0"/>
              <a:buChar char="•"/>
            </a:pPr>
            <a:r>
              <a:rPr lang="en-US" noProof="0" dirty="0"/>
              <a:t>Protocol development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F72C18-352A-7473-BBC0-349A7E05A45C}"/>
              </a:ext>
            </a:extLst>
          </p:cNvPr>
          <p:cNvSpPr txBox="1"/>
          <p:nvPr/>
        </p:nvSpPr>
        <p:spPr>
          <a:xfrm rot="5400000">
            <a:off x="7060335" y="3022171"/>
            <a:ext cx="3055869" cy="37457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Ins="45720" rtlCol="0">
            <a:spAutoFit/>
          </a:bodyPr>
          <a:lstStyle/>
          <a:p>
            <a:pPr algn="l"/>
            <a:r>
              <a:rPr lang="en-US" sz="1600" dirty="0"/>
              <a:t>Non-normative JavaScript Example</a:t>
            </a:r>
          </a:p>
        </p:txBody>
      </p:sp>
    </p:spTree>
    <p:extLst>
      <p:ext uri="{BB962C8B-B14F-4D97-AF65-F5344CB8AC3E}">
        <p14:creationId xmlns:p14="http://schemas.microsoft.com/office/powerpoint/2010/main" val="4042256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F4A06-90E8-3E8B-390D-6B5CB1D67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C3E1A0-BF90-9456-3BFC-5EE03BBDCD6B}"/>
              </a:ext>
            </a:extLst>
          </p:cNvPr>
          <p:cNvSpPr txBox="1"/>
          <p:nvPr/>
        </p:nvSpPr>
        <p:spPr>
          <a:xfrm>
            <a:off x="1160634" y="509847"/>
            <a:ext cx="68227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noProof="0" dirty="0"/>
              <a:t>Deterministic </a:t>
            </a:r>
            <a:r>
              <a:rPr lang="en-US" sz="2800" dirty="0"/>
              <a:t>E</a:t>
            </a:r>
            <a:r>
              <a:rPr lang="en-US" sz="2800" noProof="0" dirty="0" err="1"/>
              <a:t>ncoding</a:t>
            </a:r>
            <a:r>
              <a:rPr lang="en-US" sz="2800" noProof="0" dirty="0"/>
              <a:t> (DE) in 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CBOR</a:t>
            </a:r>
            <a:r>
              <a:rPr lang="en-US" sz="2800" noProof="0" dirty="0">
                <a:cs typeface="Courier New" panose="02070309020205020404" pitchFamily="49" charset="0"/>
              </a:rPr>
              <a:t>::</a:t>
            </a:r>
            <a:r>
              <a:rPr lang="en-US" sz="2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Core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578F2A-CEDE-08CC-A589-5D858CAD026B}"/>
              </a:ext>
            </a:extLst>
          </p:cNvPr>
          <p:cNvSpPr txBox="1"/>
          <p:nvPr/>
        </p:nvSpPr>
        <p:spPr>
          <a:xfrm>
            <a:off x="883995" y="1198864"/>
            <a:ext cx="7592320" cy="527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noProof="0" dirty="0"/>
              <a:t>DE rationale: </a:t>
            </a:r>
            <a:r>
              <a:rPr lang="en-US" sz="2400" i="1" noProof="0" dirty="0"/>
              <a:t>simpler encoder design</a:t>
            </a:r>
            <a:r>
              <a:rPr lang="en-US" sz="2400" noProof="0" dirty="0"/>
              <a:t>, </a:t>
            </a:r>
            <a:r>
              <a:rPr lang="en-US" sz="2400" i="1" noProof="0" dirty="0"/>
              <a:t>practically free of cost</a:t>
            </a:r>
            <a:r>
              <a:rPr lang="en-US" sz="2400" noProof="0" dirty="0"/>
              <a:t>, and </a:t>
            </a:r>
            <a:r>
              <a:rPr lang="en-US" sz="2400" i="1" noProof="0" dirty="0"/>
              <a:t>potentially improved interoperability</a:t>
            </a:r>
            <a:r>
              <a:rPr lang="en-US" sz="2400" noProof="0" dirty="0"/>
              <a:t>.  As a bonus, duplicate key detection becomes default.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noProof="0" dirty="0"/>
              <a:t>DE primarily relies on </a:t>
            </a:r>
            <a:r>
              <a:rPr lang="en-US" sz="2400" i="1" noProof="0" dirty="0"/>
              <a:t>sorted maps</a:t>
            </a:r>
            <a:r>
              <a:rPr lang="en-US" sz="2400" noProof="0" dirty="0"/>
              <a:t>, </a:t>
            </a:r>
            <a:r>
              <a:rPr lang="en-US" sz="2400" i="1" noProof="0" dirty="0"/>
              <a:t>normalized integers</a:t>
            </a:r>
            <a:r>
              <a:rPr lang="en-US" sz="2400" noProof="0" dirty="0"/>
              <a:t>, and </a:t>
            </a:r>
            <a:r>
              <a:rPr lang="en-US" sz="2400" i="1" noProof="0" dirty="0"/>
              <a:t>normalized floating-point numbers</a:t>
            </a:r>
            <a:r>
              <a:rPr lang="en-US" sz="2400" noProof="0" dirty="0"/>
              <a:t>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noProof="0" dirty="0"/>
              <a:t>DE is always “on” for </a:t>
            </a:r>
            <a:r>
              <a:rPr lang="en-US" sz="2400" i="1" noProof="0" dirty="0"/>
              <a:t>encoding</a:t>
            </a:r>
            <a:r>
              <a:rPr lang="en-US" sz="2400" noProof="0" dirty="0"/>
              <a:t>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DE can optionally be disabled for </a:t>
            </a:r>
            <a:r>
              <a:rPr lang="en-US" sz="2400" i="1" dirty="0"/>
              <a:t>decoding</a:t>
            </a:r>
            <a:r>
              <a:rPr lang="en-US" sz="2400" dirty="0"/>
              <a:t> in order to support “legacy” CBOR.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-apple-system"/>
              </a:rPr>
              <a:t>DE can support novel cryptographic containers, including embedded signatures.  This is elaborated on in the draft.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-apple-system"/>
              </a:rPr>
              <a:t>Application developers should hardly ever have to bother with the inner workings of deterministically encoded CBOR.</a:t>
            </a:r>
          </a:p>
        </p:txBody>
      </p:sp>
    </p:spTree>
    <p:extLst>
      <p:ext uri="{BB962C8B-B14F-4D97-AF65-F5344CB8AC3E}">
        <p14:creationId xmlns:p14="http://schemas.microsoft.com/office/powerpoint/2010/main" val="1786339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51B7F-9039-9E26-8663-DE1092A0F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A0691E-D183-CBB4-41E1-95F1C35A1B80}"/>
              </a:ext>
            </a:extLst>
          </p:cNvPr>
          <p:cNvSpPr txBox="1"/>
          <p:nvPr/>
        </p:nvSpPr>
        <p:spPr>
          <a:xfrm>
            <a:off x="604641" y="772597"/>
            <a:ext cx="79347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noProof="0" dirty="0"/>
              <a:t>What is the alternative to an IETF specified standard?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577D4B-9E7F-3681-1B87-1796BE0581AA}"/>
              </a:ext>
            </a:extLst>
          </p:cNvPr>
          <p:cNvSpPr txBox="1"/>
          <p:nvPr/>
        </p:nvSpPr>
        <p:spPr>
          <a:xfrm>
            <a:off x="947057" y="2109711"/>
            <a:ext cx="7592320" cy="2852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noProof="0" dirty="0"/>
              <a:t>It is a </a:t>
            </a:r>
            <a:r>
              <a:rPr lang="en-US" sz="2400" i="1" noProof="0" dirty="0"/>
              <a:t>potentially fractured</a:t>
            </a:r>
            <a:r>
              <a:rPr lang="en-US" sz="2400" noProof="0" dirty="0"/>
              <a:t> CBOR landscape, where each platform vendor does its own interpretation of what “Useful</a:t>
            </a:r>
            <a:r>
              <a:rPr lang="en-US" sz="2400" noProof="0" dirty="0">
                <a:effectLst/>
                <a:latin typeface="Helvetica" pitchFamily="2" charset="0"/>
              </a:rPr>
              <a:t> </a:t>
            </a:r>
            <a:r>
              <a:rPr lang="en-US" sz="2400" noProof="0" dirty="0"/>
              <a:t>CBOR” might entail.  Presumably this gets a little better than the JavaScript “JSON” object </a:t>
            </a:r>
            <a:r>
              <a:rPr lang="en-US" sz="4400" b="0" i="0" baseline="-25000" noProof="0" dirty="0">
                <a:effectLst/>
                <a:latin typeface="-apple-system"/>
              </a:rPr>
              <a:t>🤣</a:t>
            </a:r>
            <a:r>
              <a:rPr lang="en-US" sz="2400" b="0" i="0" noProof="0" dirty="0">
                <a:effectLst/>
                <a:latin typeface="-apple-system"/>
              </a:rPr>
              <a:t> </a:t>
            </a:r>
            <a:endParaRPr lang="en-US" sz="2400" dirty="0">
              <a:latin typeface="-apple-system"/>
            </a:endParaRPr>
          </a:p>
          <a:p>
            <a:pPr>
              <a:spcAft>
                <a:spcPts val="600"/>
              </a:spcAft>
            </a:pPr>
            <a:endParaRPr lang="en-US" sz="2400" dirty="0">
              <a:latin typeface="-apple-system"/>
            </a:endParaRPr>
          </a:p>
          <a:p>
            <a:pPr>
              <a:spcAft>
                <a:spcPts val="600"/>
              </a:spcAft>
            </a:pPr>
            <a:r>
              <a:rPr lang="en-US" sz="2400" dirty="0"/>
              <a:t>For the IETF however, it is now or never!</a:t>
            </a:r>
            <a:r>
              <a:rPr lang="en-US" sz="4400" dirty="0">
                <a:latin typeface="-apple-system"/>
              </a:rPr>
              <a:t>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146363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C1051-27EE-F21C-11BB-0AA8E71D6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B16400-BC71-C310-CB3F-BF313E268E19}"/>
              </a:ext>
            </a:extLst>
          </p:cNvPr>
          <p:cNvSpPr txBox="1"/>
          <p:nvPr/>
        </p:nvSpPr>
        <p:spPr>
          <a:xfrm>
            <a:off x="678900" y="772597"/>
            <a:ext cx="7786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noProof="0" dirty="0"/>
              <a:t>Unexpected side-effect of a successful IETF standard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AAAE5C-C6F5-4C20-2DC0-80C31C8BE8F6}"/>
              </a:ext>
            </a:extLst>
          </p:cNvPr>
          <p:cNvSpPr txBox="1"/>
          <p:nvPr/>
        </p:nvSpPr>
        <p:spPr>
          <a:xfrm>
            <a:off x="875831" y="1913848"/>
            <a:ext cx="758930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i="1" noProof="0" dirty="0"/>
              <a:t>Since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CBOR</a:t>
            </a:r>
            <a:r>
              <a:rPr lang="en-US" sz="2400" dirty="0">
                <a:cs typeface="Courier New" panose="02070309020205020404" pitchFamily="49" charset="0"/>
              </a:rPr>
              <a:t>::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Core</a:t>
            </a:r>
            <a:r>
              <a:rPr lang="en-US" sz="2400" i="1" noProof="0" dirty="0"/>
              <a:t> targets the “bulk” of SW developers,</a:t>
            </a:r>
            <a:r>
              <a:rPr lang="en-US" sz="2400" i="1" dirty="0"/>
              <a:t> </a:t>
            </a:r>
            <a:r>
              <a:rPr lang="en-US" sz="2400" i="1" noProof="0" dirty="0"/>
              <a:t>it could eventually turn out as a de-facto definition</a:t>
            </a:r>
            <a:r>
              <a:rPr lang="en-US" sz="2400" i="1" dirty="0"/>
              <a:t> </a:t>
            </a:r>
            <a:r>
              <a:rPr lang="en-US" sz="2400" i="1" noProof="0" dirty="0"/>
              <a:t>of CBOR.</a:t>
            </a:r>
          </a:p>
          <a:p>
            <a:pPr>
              <a:spcAft>
                <a:spcPts val="600"/>
              </a:spcAft>
            </a:pPr>
            <a:endParaRPr lang="en-US" sz="2400" i="1" dirty="0"/>
          </a:p>
          <a:p>
            <a:pPr>
              <a:spcAft>
                <a:spcPts val="600"/>
              </a:spcAft>
            </a:pPr>
            <a:r>
              <a:rPr lang="en-US" sz="2400" dirty="0"/>
              <a:t>However,</a:t>
            </a:r>
            <a:r>
              <a:rPr lang="en-US" sz="2400" noProof="0" dirty="0"/>
              <a:t>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CBOR</a:t>
            </a:r>
            <a:r>
              <a:rPr lang="en-US" sz="2400" noProof="0" dirty="0">
                <a:cs typeface="Courier New" panose="02070309020205020404" pitchFamily="49" charset="0"/>
              </a:rPr>
              <a:t>::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Core</a:t>
            </a:r>
            <a:r>
              <a:rPr lang="en-US" sz="2400" noProof="0" dirty="0"/>
              <a:t> does not in any way modify the CBOR standard; it only provides a </a:t>
            </a:r>
            <a:r>
              <a:rPr lang="en-US" sz="2400" i="1" noProof="0" dirty="0"/>
              <a:t>simplified</a:t>
            </a:r>
            <a:r>
              <a:rPr lang="en-US" sz="2400" noProof="0" dirty="0"/>
              <a:t> and </a:t>
            </a:r>
            <a:r>
              <a:rPr lang="en-US" sz="2400" i="1" noProof="0" dirty="0"/>
              <a:t>standardized</a:t>
            </a:r>
            <a:r>
              <a:rPr lang="en-US" sz="2400" noProof="0" dirty="0"/>
              <a:t>  environment, </a:t>
            </a:r>
            <a:r>
              <a:rPr lang="en-US" sz="2400" dirty="0"/>
              <a:t>particularly </a:t>
            </a:r>
            <a:r>
              <a:rPr lang="en-US" sz="2400" noProof="0" dirty="0"/>
              <a:t>adapted for more </a:t>
            </a:r>
            <a:r>
              <a:rPr lang="en-US" sz="2400" dirty="0"/>
              <a:t>traditional use cases, rather than for resource-constrained embedded systems.  </a:t>
            </a:r>
            <a:endParaRPr lang="en-US" sz="2400" noProof="0" dirty="0"/>
          </a:p>
          <a:p>
            <a:pPr>
              <a:spcAft>
                <a:spcPts val="600"/>
              </a:spcAft>
            </a:pPr>
            <a:endParaRPr lang="en-US" sz="2400" i="1" dirty="0"/>
          </a:p>
          <a:p>
            <a:pPr algn="ctr">
              <a:spcAft>
                <a:spcPts val="600"/>
              </a:spcAft>
            </a:pPr>
            <a:r>
              <a:rPr lang="en-US" sz="2400" noProof="0" dirty="0"/>
              <a:t>Thanx!</a:t>
            </a:r>
          </a:p>
        </p:txBody>
      </p:sp>
    </p:spTree>
    <p:extLst>
      <p:ext uri="{BB962C8B-B14F-4D97-AF65-F5344CB8AC3E}">
        <p14:creationId xmlns:p14="http://schemas.microsoft.com/office/powerpoint/2010/main" val="111927125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2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4042</TotalTime>
  <Words>701</Words>
  <Application>Microsoft Macintosh PowerPoint</Application>
  <PresentationFormat>On-screen Show (4:3)</PresentationFormat>
  <Paragraphs>87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-apple-system</vt:lpstr>
      <vt:lpstr>Arial</vt:lpstr>
      <vt:lpstr>Calibri</vt:lpstr>
      <vt:lpstr>Courier New</vt:lpstr>
      <vt:lpstr>Helvetica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125</cp:revision>
  <dcterms:created xsi:type="dcterms:W3CDTF">2024-05-09T01:23:11Z</dcterms:created>
  <dcterms:modified xsi:type="dcterms:W3CDTF">2025-06-21T15:27:22Z</dcterms:modified>
</cp:coreProperties>
</file>