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6"/>
  </p:notesMasterIdLst>
  <p:sldIdLst>
    <p:sldId id="265" r:id="rId2"/>
    <p:sldId id="259" r:id="rId3"/>
    <p:sldId id="264" r:id="rId4"/>
    <p:sldId id="261"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76"/>
    <p:restoredTop sz="94898"/>
  </p:normalViewPr>
  <p:slideViewPr>
    <p:cSldViewPr snapToGrid="0">
      <p:cViewPr varScale="1">
        <p:scale>
          <a:sx n="117" d="100"/>
          <a:sy n="117" d="100"/>
        </p:scale>
        <p:origin x="192" y="2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2DC2B-A868-EB48-BC74-89BE29D1DE6E}" type="datetimeFigureOut">
              <a:rPr lang="en-US" smtClean="0"/>
              <a:t>5/26/24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55AEAB-4CBB-0042-9A5E-12B0D378A04C}" type="slidenum">
              <a:rPr lang="en-US" smtClean="0"/>
              <a:t>‹#›</a:t>
            </a:fld>
            <a:endParaRPr lang="en-US" dirty="0"/>
          </a:p>
        </p:txBody>
      </p:sp>
    </p:spTree>
    <p:extLst>
      <p:ext uri="{BB962C8B-B14F-4D97-AF65-F5344CB8AC3E}">
        <p14:creationId xmlns:p14="http://schemas.microsoft.com/office/powerpoint/2010/main" val="2222771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55AEAB-4CBB-0042-9A5E-12B0D378A04C}" type="slidenum">
              <a:rPr lang="en-US" smtClean="0"/>
              <a:t>1</a:t>
            </a:fld>
            <a:endParaRPr lang="en-US" dirty="0"/>
          </a:p>
        </p:txBody>
      </p:sp>
    </p:spTree>
    <p:extLst>
      <p:ext uri="{BB962C8B-B14F-4D97-AF65-F5344CB8AC3E}">
        <p14:creationId xmlns:p14="http://schemas.microsoft.com/office/powerpoint/2010/main" val="2785265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55AEAB-4CBB-0042-9A5E-12B0D378A04C}" type="slidenum">
              <a:rPr lang="en-US" smtClean="0"/>
              <a:t>2</a:t>
            </a:fld>
            <a:endParaRPr lang="en-US" dirty="0"/>
          </a:p>
        </p:txBody>
      </p:sp>
    </p:spTree>
    <p:extLst>
      <p:ext uri="{BB962C8B-B14F-4D97-AF65-F5344CB8AC3E}">
        <p14:creationId xmlns:p14="http://schemas.microsoft.com/office/powerpoint/2010/main" val="2811407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55AEAB-4CBB-0042-9A5E-12B0D378A04C}" type="slidenum">
              <a:rPr lang="en-US" smtClean="0"/>
              <a:t>3</a:t>
            </a:fld>
            <a:endParaRPr lang="en-US" dirty="0"/>
          </a:p>
        </p:txBody>
      </p:sp>
    </p:spTree>
    <p:extLst>
      <p:ext uri="{BB962C8B-B14F-4D97-AF65-F5344CB8AC3E}">
        <p14:creationId xmlns:p14="http://schemas.microsoft.com/office/powerpoint/2010/main" val="4221653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55AEAB-4CBB-0042-9A5E-12B0D378A04C}" type="slidenum">
              <a:rPr lang="en-US" smtClean="0"/>
              <a:t>4</a:t>
            </a:fld>
            <a:endParaRPr lang="en-US" dirty="0"/>
          </a:p>
        </p:txBody>
      </p:sp>
    </p:spTree>
    <p:extLst>
      <p:ext uri="{BB962C8B-B14F-4D97-AF65-F5344CB8AC3E}">
        <p14:creationId xmlns:p14="http://schemas.microsoft.com/office/powerpoint/2010/main" val="1486544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E7597-EF04-7E78-64FC-D977E131F8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DF6811-A223-30BF-59EE-BFFADEB523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449025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4C32FA-6002-595D-80BB-63937476A267}"/>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2EAEF8-1DA1-6BFA-18D0-1CCEA077B64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E1CB9597-DEC4-EC70-BC92-25C681E86258}"/>
              </a:ext>
            </a:extLst>
          </p:cNvPr>
          <p:cNvSpPr txBox="1"/>
          <p:nvPr userDrawn="1"/>
        </p:nvSpPr>
        <p:spPr>
          <a:xfrm>
            <a:off x="0" y="6598364"/>
            <a:ext cx="1077539" cy="246221"/>
          </a:xfrm>
          <a:prstGeom prst="rect">
            <a:avLst/>
          </a:prstGeom>
          <a:noFill/>
        </p:spPr>
        <p:txBody>
          <a:bodyPr wrap="none" rtlCol="0">
            <a:spAutoFit/>
          </a:bodyPr>
          <a:lstStyle/>
          <a:p>
            <a:pPr algn="l"/>
            <a:r>
              <a:rPr lang="en-US" sz="1000" baseline="0" dirty="0">
                <a:latin typeface="Calibri" panose="020F0502020204030204" pitchFamily="34" charset="0"/>
              </a:rPr>
              <a:t>Saturn Core Flow</a:t>
            </a:r>
          </a:p>
        </p:txBody>
      </p:sp>
      <p:sp>
        <p:nvSpPr>
          <p:cNvPr id="9" name="Slide Number Placeholder 5">
            <a:extLst>
              <a:ext uri="{FF2B5EF4-FFF2-40B4-BE49-F238E27FC236}">
                <a16:creationId xmlns:a16="http://schemas.microsoft.com/office/drawing/2014/main" id="{AC2CAB6F-30A1-6BBF-1538-C17A8E44EBAD}"/>
              </a:ext>
            </a:extLst>
          </p:cNvPr>
          <p:cNvSpPr txBox="1">
            <a:spLocks/>
          </p:cNvSpPr>
          <p:nvPr userDrawn="1"/>
        </p:nvSpPr>
        <p:spPr>
          <a:xfrm>
            <a:off x="7086600" y="6598364"/>
            <a:ext cx="2057400" cy="274570"/>
          </a:xfrm>
          <a:prstGeom prst="rect">
            <a:avLst/>
          </a:prstGeom>
        </p:spPr>
        <p:txBody>
          <a:bodyPr/>
          <a:lstStyle>
            <a:defPPr>
              <a:defRPr lang="en-US"/>
            </a:defPPr>
            <a:lvl1pPr marL="0" algn="l"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t>Page </a:t>
            </a:r>
            <a:fld id="{07CFA2E1-6809-964B-AD46-95BA28ED9F1A}" type="slidenum">
              <a:rPr lang="en-US" smtClean="0"/>
              <a:pPr algn="r"/>
              <a:t>‹#›</a:t>
            </a:fld>
            <a:endParaRPr lang="en-US" dirty="0"/>
          </a:p>
        </p:txBody>
      </p:sp>
    </p:spTree>
    <p:extLst>
      <p:ext uri="{BB962C8B-B14F-4D97-AF65-F5344CB8AC3E}">
        <p14:creationId xmlns:p14="http://schemas.microsoft.com/office/powerpoint/2010/main" val="914607898"/>
      </p:ext>
    </p:extLst>
  </p:cSld>
  <p:clrMap bg1="lt1" tx1="dk1" bg2="lt2" tx2="dk2" accent1="accent1" accent2="accent2" accent3="accent3" accent4="accent4" accent5="accent5" accent6="accent6" hlink="hlink" folHlink="folHlink"/>
  <p:sldLayoutIdLst>
    <p:sldLayoutId id="2147483674"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est.webpki.org/satur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linkedin.com/in/andersrundgren/" TargetMode="External"/><Relationship Id="rId5" Type="http://schemas.openxmlformats.org/officeDocument/2006/relationships/hyperlink" Target="mailto:anders.rundgren.net@gmail.com" TargetMode="External"/><Relationship Id="rId4" Type="http://schemas.openxmlformats.org/officeDocument/2006/relationships/hyperlink" Target="https://www.youtube.com/shorts/ntqQzuWGW14"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7.emf"/><Relationship Id="rId4" Type="http://schemas.openxmlformats.org/officeDocument/2006/relationships/image" Target="../media/image2.png"/><Relationship Id="rId9" Type="http://schemas.openxmlformats.org/officeDocument/2006/relationships/hyperlink" Target="https://cyberphone.github.io/doc/saturn/"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cyberphone.github.io/doc/defensive-publications/e-receipts.pdf"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632161-5C0B-ECCC-B1F9-33C1D47F2C88}"/>
              </a:ext>
            </a:extLst>
          </p:cNvPr>
          <p:cNvSpPr txBox="1"/>
          <p:nvPr/>
        </p:nvSpPr>
        <p:spPr>
          <a:xfrm>
            <a:off x="562232" y="1179613"/>
            <a:ext cx="8019535" cy="4708981"/>
          </a:xfrm>
          <a:prstGeom prst="rect">
            <a:avLst/>
          </a:prstGeom>
          <a:noFill/>
        </p:spPr>
        <p:txBody>
          <a:bodyPr wrap="square" rtlCol="0">
            <a:spAutoFit/>
          </a:bodyPr>
          <a:lstStyle/>
          <a:p>
            <a:pPr algn="l"/>
            <a:r>
              <a:rPr lang="en-US" sz="1200" dirty="0"/>
              <a:t>The following slides describe such a solution coined “Saturn”, which borrows heavily from the currently only established payment authorization standard, EMV (used in 10 billon+ bank cards, as well as by Apple and Google Pay).  Although EMV is defined by the international card network giants and is pretty dated with respect to technology, the actual </a:t>
            </a:r>
            <a:r>
              <a:rPr lang="en-US" sz="1200" i="1" dirty="0"/>
              <a:t>concept</a:t>
            </a:r>
            <a:r>
              <a:rPr lang="en-US" sz="1200" dirty="0"/>
              <a:t> has a lot of untapped potential. </a:t>
            </a:r>
          </a:p>
          <a:p>
            <a:pPr algn="l"/>
            <a:endParaRPr lang="en-US" sz="1200" dirty="0"/>
          </a:p>
          <a:p>
            <a:pPr algn="l"/>
            <a:r>
              <a:rPr lang="en-US" sz="1200" dirty="0"/>
              <a:t>The primary extensions to EMV include:</a:t>
            </a:r>
          </a:p>
          <a:p>
            <a:pPr marL="228600" indent="-228600" algn="l">
              <a:buFont typeface="Arial" panose="020B0604020202020204" pitchFamily="34" charset="0"/>
              <a:buChar char="•"/>
            </a:pPr>
            <a:r>
              <a:rPr lang="en-US" sz="1200" dirty="0"/>
              <a:t>CBOR/JSON format rather than ISO 7816</a:t>
            </a:r>
          </a:p>
          <a:p>
            <a:pPr marL="228600" indent="-228600" algn="l">
              <a:buFont typeface="Arial" panose="020B0604020202020204" pitchFamily="34" charset="0"/>
              <a:buChar char="•"/>
            </a:pPr>
            <a:r>
              <a:rPr lang="en-US" sz="1200" dirty="0"/>
              <a:t>State-of-the-art cryptographic algorithms</a:t>
            </a:r>
          </a:p>
          <a:p>
            <a:pPr marL="228600" indent="-228600" algn="l">
              <a:buFont typeface="Arial" panose="020B0604020202020204" pitchFamily="34" charset="0"/>
              <a:buChar char="•"/>
            </a:pPr>
            <a:r>
              <a:rPr lang="en-US" sz="1200" dirty="0"/>
              <a:t>End-to-end encryption for GDPR and PCI compliance</a:t>
            </a:r>
          </a:p>
          <a:p>
            <a:pPr marL="228600" indent="-228600" algn="l">
              <a:buFont typeface="Arial" panose="020B0604020202020204" pitchFamily="34" charset="0"/>
              <a:buChar char="•"/>
            </a:pPr>
            <a:r>
              <a:rPr lang="en-US" sz="1200" dirty="0"/>
              <a:t>Universal account identifiers (PAN, IBAN, etc.)</a:t>
            </a:r>
          </a:p>
          <a:p>
            <a:pPr marL="228600" indent="-228600" algn="l">
              <a:buFont typeface="Arial" panose="020B0604020202020204" pitchFamily="34" charset="0"/>
              <a:buChar char="•"/>
            </a:pPr>
            <a:r>
              <a:rPr lang="en-US" sz="1200" dirty="0"/>
              <a:t>Payment network neutral (SEPA, VISA, etc.)</a:t>
            </a:r>
          </a:p>
          <a:p>
            <a:pPr marL="228600" indent="-228600" algn="l">
              <a:buFont typeface="Arial" panose="020B0604020202020204" pitchFamily="34" charset="0"/>
              <a:buChar char="•"/>
            </a:pPr>
            <a:r>
              <a:rPr lang="en-US" sz="1200" dirty="0"/>
              <a:t>Financial institution URLs rather than databases + BINs</a:t>
            </a:r>
          </a:p>
          <a:p>
            <a:pPr marL="228600" indent="-228600" algn="l">
              <a:buFont typeface="Arial" panose="020B0604020202020204" pitchFamily="34" charset="0"/>
              <a:buChar char="•"/>
            </a:pPr>
            <a:r>
              <a:rPr lang="en-US" sz="1200" dirty="0"/>
              <a:t>Support for account balance lookups</a:t>
            </a:r>
          </a:p>
          <a:p>
            <a:pPr marL="228600" indent="-228600" algn="l">
              <a:buFont typeface="Arial" panose="020B0604020202020204" pitchFamily="34" charset="0"/>
              <a:buChar char="•"/>
            </a:pPr>
            <a:r>
              <a:rPr lang="en-US" sz="1200" dirty="0"/>
              <a:t>Support for e-receipts</a:t>
            </a:r>
          </a:p>
          <a:p>
            <a:pPr marL="228600" indent="-228600" algn="l">
              <a:buFont typeface="Arial" panose="020B0604020202020204" pitchFamily="34" charset="0"/>
              <a:buChar char="•"/>
            </a:pPr>
            <a:r>
              <a:rPr lang="en-US" sz="1200" dirty="0"/>
              <a:t>Distinguishing between direct payments, deposits, subscriptions, gas station payments, etc. </a:t>
            </a:r>
          </a:p>
          <a:p>
            <a:pPr marL="228600" indent="-228600" algn="l">
              <a:buFont typeface="Arial" panose="020B0604020202020204" pitchFamily="34" charset="0"/>
              <a:buChar char="•"/>
            </a:pPr>
            <a:endParaRPr lang="en-US" sz="1200" dirty="0"/>
          </a:p>
          <a:p>
            <a:pPr algn="l"/>
            <a:r>
              <a:rPr lang="en-US" sz="1200" dirty="0"/>
              <a:t>However, the main feature of this design is in the relative simplicity of the wallet which is accomplished by limiting the wallet functionality to payer authorizations.  This also increases the overall flexibility of the design since most of the functionality is offloaded to  the “backend”. </a:t>
            </a:r>
          </a:p>
          <a:p>
            <a:pPr algn="l"/>
            <a:endParaRPr lang="en-US" sz="1200" dirty="0"/>
          </a:p>
          <a:p>
            <a:pPr algn="l"/>
            <a:r>
              <a:rPr lang="en-US" sz="1200" dirty="0"/>
              <a:t>This system has been in the workings since 2015 and is currently testable at </a:t>
            </a:r>
            <a:r>
              <a:rPr lang="en-US" sz="1200" dirty="0">
                <a:hlinkClick r:id="rId3"/>
              </a:rPr>
              <a:t>https://test.webpki.org/saturn</a:t>
            </a:r>
            <a:endParaRPr lang="en-US" sz="1200" dirty="0"/>
          </a:p>
          <a:p>
            <a:pPr algn="l"/>
            <a:r>
              <a:rPr lang="en-US" sz="1200" dirty="0"/>
              <a:t>46 second UI demo: </a:t>
            </a:r>
            <a:r>
              <a:rPr lang="en-US" sz="1200" dirty="0">
                <a:hlinkClick r:id="rId4"/>
              </a:rPr>
              <a:t>https://www.youtube.com/shorts/ntqQzuWGW14</a:t>
            </a:r>
            <a:endParaRPr lang="en-US" sz="1200" dirty="0"/>
          </a:p>
          <a:p>
            <a:pPr algn="l"/>
            <a:endParaRPr lang="en-US" sz="1200" dirty="0"/>
          </a:p>
          <a:p>
            <a:pPr algn="l"/>
            <a:r>
              <a:rPr lang="en-US" sz="1200" dirty="0"/>
              <a:t>Version: 0.1, 2024-05-25</a:t>
            </a:r>
          </a:p>
          <a:p>
            <a:pPr algn="l"/>
            <a:r>
              <a:rPr lang="en-US" sz="1200" dirty="0"/>
              <a:t>Author: Anders Rundgren (</a:t>
            </a:r>
            <a:r>
              <a:rPr lang="en-US" sz="1200" dirty="0">
                <a:hlinkClick r:id="rId5"/>
              </a:rPr>
              <a:t>anders.rundgren.net@gmail.com</a:t>
            </a:r>
            <a:r>
              <a:rPr lang="en-US" sz="1200" dirty="0"/>
              <a:t>, </a:t>
            </a:r>
            <a:r>
              <a:rPr lang="en-US" sz="1200" dirty="0">
                <a:hlinkClick r:id="rId6"/>
              </a:rPr>
              <a:t>https://www.linkedin.com/in/andersrundgren</a:t>
            </a:r>
            <a:r>
              <a:rPr lang="en-US" sz="1200" dirty="0"/>
              <a:t>)</a:t>
            </a:r>
          </a:p>
        </p:txBody>
      </p:sp>
      <p:sp>
        <p:nvSpPr>
          <p:cNvPr id="5" name="TextBox 4">
            <a:extLst>
              <a:ext uri="{FF2B5EF4-FFF2-40B4-BE49-F238E27FC236}">
                <a16:creationId xmlns:a16="http://schemas.microsoft.com/office/drawing/2014/main" id="{2D413C2B-BC6D-99A2-25F9-759512C50268}"/>
              </a:ext>
            </a:extLst>
          </p:cNvPr>
          <p:cNvSpPr txBox="1"/>
          <p:nvPr/>
        </p:nvSpPr>
        <p:spPr>
          <a:xfrm>
            <a:off x="3564116" y="495777"/>
            <a:ext cx="2316532" cy="461665"/>
          </a:xfrm>
          <a:prstGeom prst="rect">
            <a:avLst/>
          </a:prstGeom>
          <a:noFill/>
        </p:spPr>
        <p:txBody>
          <a:bodyPr wrap="none" rtlCol="0">
            <a:spAutoFit/>
          </a:bodyPr>
          <a:lstStyle/>
          <a:p>
            <a:pPr algn="l"/>
            <a:r>
              <a:rPr lang="en-US" sz="2400" dirty="0"/>
              <a:t>Saturn Core Flow</a:t>
            </a:r>
          </a:p>
        </p:txBody>
      </p:sp>
    </p:spTree>
    <p:extLst>
      <p:ext uri="{BB962C8B-B14F-4D97-AF65-F5344CB8AC3E}">
        <p14:creationId xmlns:p14="http://schemas.microsoft.com/office/powerpoint/2010/main" val="3356174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Oval 114">
            <a:extLst>
              <a:ext uri="{FF2B5EF4-FFF2-40B4-BE49-F238E27FC236}">
                <a16:creationId xmlns:a16="http://schemas.microsoft.com/office/drawing/2014/main" id="{246CD65B-D8FE-893A-C413-8A9B4CAA9D3D}"/>
              </a:ext>
            </a:extLst>
          </p:cNvPr>
          <p:cNvSpPr>
            <a:spLocks/>
          </p:cNvSpPr>
          <p:nvPr/>
        </p:nvSpPr>
        <p:spPr>
          <a:xfrm>
            <a:off x="7129716" y="6452902"/>
            <a:ext cx="219456" cy="2194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400" b="1" dirty="0">
                <a:solidFill>
                  <a:srgbClr val="FF0000"/>
                </a:solidFill>
              </a:rPr>
              <a:t>T</a:t>
            </a:r>
          </a:p>
        </p:txBody>
      </p:sp>
      <p:cxnSp>
        <p:nvCxnSpPr>
          <p:cNvPr id="92" name="Straight Arrow Connector 91">
            <a:extLst>
              <a:ext uri="{FF2B5EF4-FFF2-40B4-BE49-F238E27FC236}">
                <a16:creationId xmlns:a16="http://schemas.microsoft.com/office/drawing/2014/main" id="{8F485B20-71DF-A8B5-59E6-AC8E51DE5A1E}"/>
              </a:ext>
            </a:extLst>
          </p:cNvPr>
          <p:cNvCxnSpPr>
            <a:cxnSpLocks/>
          </p:cNvCxnSpPr>
          <p:nvPr/>
        </p:nvCxnSpPr>
        <p:spPr>
          <a:xfrm>
            <a:off x="2659586" y="5511754"/>
            <a:ext cx="1874519" cy="0"/>
          </a:xfrm>
          <a:prstGeom prst="straightConnector1">
            <a:avLst/>
          </a:prstGeom>
          <a:ln w="25400">
            <a:solidFill>
              <a:schemeClr val="accent2">
                <a:lumMod val="60000"/>
                <a:lumOff val="4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FB9602C-C997-AD98-DBBD-983AE97447F2}"/>
              </a:ext>
            </a:extLst>
          </p:cNvPr>
          <p:cNvCxnSpPr>
            <a:cxnSpLocks/>
          </p:cNvCxnSpPr>
          <p:nvPr/>
        </p:nvCxnSpPr>
        <p:spPr>
          <a:xfrm>
            <a:off x="6247081" y="823293"/>
            <a:ext cx="0" cy="438912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B03047C-F8FD-8D08-D902-32CFDCFF56C4}"/>
              </a:ext>
            </a:extLst>
          </p:cNvPr>
          <p:cNvCxnSpPr>
            <a:cxnSpLocks/>
          </p:cNvCxnSpPr>
          <p:nvPr/>
        </p:nvCxnSpPr>
        <p:spPr>
          <a:xfrm>
            <a:off x="4539153" y="823293"/>
            <a:ext cx="0" cy="539496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CFD3F8F-886C-3F37-714D-C6CB39022B6C}"/>
              </a:ext>
            </a:extLst>
          </p:cNvPr>
          <p:cNvCxnSpPr>
            <a:cxnSpLocks/>
          </p:cNvCxnSpPr>
          <p:nvPr/>
        </p:nvCxnSpPr>
        <p:spPr>
          <a:xfrm>
            <a:off x="2663058" y="823293"/>
            <a:ext cx="0" cy="50292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B56A1BF-87EC-C043-FE12-59E811C223AF}"/>
              </a:ext>
            </a:extLst>
          </p:cNvPr>
          <p:cNvCxnSpPr>
            <a:cxnSpLocks/>
          </p:cNvCxnSpPr>
          <p:nvPr/>
        </p:nvCxnSpPr>
        <p:spPr>
          <a:xfrm>
            <a:off x="734425" y="823293"/>
            <a:ext cx="0" cy="173736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937E01C-BFC7-DBC0-832A-D7074E39329A}"/>
              </a:ext>
            </a:extLst>
          </p:cNvPr>
          <p:cNvCxnSpPr>
            <a:cxnSpLocks/>
          </p:cNvCxnSpPr>
          <p:nvPr/>
        </p:nvCxnSpPr>
        <p:spPr>
          <a:xfrm>
            <a:off x="8028574" y="823293"/>
            <a:ext cx="0" cy="41148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28CEB6-3E1A-F922-6B84-24A05123AEFF}"/>
              </a:ext>
            </a:extLst>
          </p:cNvPr>
          <p:cNvCxnSpPr>
            <a:cxnSpLocks/>
          </p:cNvCxnSpPr>
          <p:nvPr/>
        </p:nvCxnSpPr>
        <p:spPr>
          <a:xfrm>
            <a:off x="2664369" y="1620083"/>
            <a:ext cx="1874519" cy="0"/>
          </a:xfrm>
          <a:prstGeom prst="straightConnector1">
            <a:avLst/>
          </a:prstGeom>
          <a:ln w="25400">
            <a:solidFill>
              <a:srgbClr val="00B0F0"/>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AB203E6F-F23B-8863-83FC-840CC380ED23}"/>
              </a:ext>
            </a:extLst>
          </p:cNvPr>
          <p:cNvGrpSpPr/>
          <p:nvPr/>
        </p:nvGrpSpPr>
        <p:grpSpPr>
          <a:xfrm>
            <a:off x="7597647" y="435078"/>
            <a:ext cx="947256" cy="721062"/>
            <a:chOff x="7147252" y="442948"/>
            <a:chExt cx="877761" cy="613096"/>
          </a:xfrm>
        </p:grpSpPr>
        <p:sp>
          <p:nvSpPr>
            <p:cNvPr id="13" name="Rectangle 12">
              <a:extLst>
                <a:ext uri="{FF2B5EF4-FFF2-40B4-BE49-F238E27FC236}">
                  <a16:creationId xmlns:a16="http://schemas.microsoft.com/office/drawing/2014/main" id="{CD7075C9-CB77-2FEB-BCAF-D848188CBF21}"/>
                </a:ext>
              </a:extLst>
            </p:cNvPr>
            <p:cNvSpPr/>
            <p:nvPr/>
          </p:nvSpPr>
          <p:spPr>
            <a:xfrm>
              <a:off x="7179321" y="617808"/>
              <a:ext cx="845692" cy="3572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A458B05B-4395-F4EA-7F89-DFE5F22466EA}"/>
                </a:ext>
              </a:extLst>
            </p:cNvPr>
            <p:cNvGrpSpPr/>
            <p:nvPr/>
          </p:nvGrpSpPr>
          <p:grpSpPr>
            <a:xfrm>
              <a:off x="7147252" y="442948"/>
              <a:ext cx="845696" cy="613096"/>
              <a:chOff x="4013200" y="3014663"/>
              <a:chExt cx="1117600" cy="828675"/>
            </a:xfrm>
            <a:effectLst>
              <a:outerShdw blurRad="50800" dist="38100" dir="2700000" algn="tl" rotWithShape="0">
                <a:prstClr val="black">
                  <a:alpha val="40000"/>
                </a:prstClr>
              </a:outerShdw>
            </a:effectLst>
          </p:grpSpPr>
          <p:sp>
            <p:nvSpPr>
              <p:cNvPr id="15" name="AutoShape 3">
                <a:extLst>
                  <a:ext uri="{FF2B5EF4-FFF2-40B4-BE49-F238E27FC236}">
                    <a16:creationId xmlns:a16="http://schemas.microsoft.com/office/drawing/2014/main" id="{BBEF83D3-A554-4AC3-0DB7-AEE467989155}"/>
                  </a:ext>
                </a:extLst>
              </p:cNvPr>
              <p:cNvSpPr>
                <a:spLocks noChangeAspect="1" noChangeArrowheads="1" noTextEdit="1"/>
              </p:cNvSpPr>
              <p:nvPr/>
            </p:nvSpPr>
            <p:spPr bwMode="auto">
              <a:xfrm>
                <a:off x="4013200" y="3014663"/>
                <a:ext cx="11176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US" sz="1350" dirty="0"/>
              </a:p>
            </p:txBody>
          </p:sp>
          <p:sp>
            <p:nvSpPr>
              <p:cNvPr id="16" name="Rectangle 15">
                <a:extLst>
                  <a:ext uri="{FF2B5EF4-FFF2-40B4-BE49-F238E27FC236}">
                    <a16:creationId xmlns:a16="http://schemas.microsoft.com/office/drawing/2014/main" id="{57B9FFB0-54AA-54BE-B419-A943299F290F}"/>
                  </a:ext>
                </a:extLst>
              </p:cNvPr>
              <p:cNvSpPr/>
              <p:nvPr/>
            </p:nvSpPr>
            <p:spPr>
              <a:xfrm>
                <a:off x="4382104"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7" name="Rectangle 16">
                <a:extLst>
                  <a:ext uri="{FF2B5EF4-FFF2-40B4-BE49-F238E27FC236}">
                    <a16:creationId xmlns:a16="http://schemas.microsoft.com/office/drawing/2014/main" id="{50C752DB-1896-6819-A939-12F95736AA21}"/>
                  </a:ext>
                </a:extLst>
              </p:cNvPr>
              <p:cNvSpPr/>
              <p:nvPr/>
            </p:nvSpPr>
            <p:spPr>
              <a:xfrm>
                <a:off x="4588637"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 name="Rectangle 17">
                <a:extLst>
                  <a:ext uri="{FF2B5EF4-FFF2-40B4-BE49-F238E27FC236}">
                    <a16:creationId xmlns:a16="http://schemas.microsoft.com/office/drawing/2014/main" id="{5721D24F-57F2-9619-6EDF-C9048B317701}"/>
                  </a:ext>
                </a:extLst>
              </p:cNvPr>
              <p:cNvSpPr/>
              <p:nvPr/>
            </p:nvSpPr>
            <p:spPr>
              <a:xfrm>
                <a:off x="4795170"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9" name="Rectangle 18">
                <a:extLst>
                  <a:ext uri="{FF2B5EF4-FFF2-40B4-BE49-F238E27FC236}">
                    <a16:creationId xmlns:a16="http://schemas.microsoft.com/office/drawing/2014/main" id="{86E18479-A9D0-ED08-639B-9C37D141680B}"/>
                  </a:ext>
                </a:extLst>
              </p:cNvPr>
              <p:cNvSpPr/>
              <p:nvPr/>
            </p:nvSpPr>
            <p:spPr>
              <a:xfrm>
                <a:off x="4175571"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0" name="Freeform 19">
                <a:extLst>
                  <a:ext uri="{FF2B5EF4-FFF2-40B4-BE49-F238E27FC236}">
                    <a16:creationId xmlns:a16="http://schemas.microsoft.com/office/drawing/2014/main" id="{4D7B7543-2EC1-6D6A-211D-1726CC64D0E4}"/>
                  </a:ext>
                </a:extLst>
              </p:cNvPr>
              <p:cNvSpPr>
                <a:spLocks/>
              </p:cNvSpPr>
              <p:nvPr/>
            </p:nvSpPr>
            <p:spPr bwMode="auto">
              <a:xfrm>
                <a:off x="4108450" y="3062288"/>
                <a:ext cx="858838" cy="142875"/>
              </a:xfrm>
              <a:custGeom>
                <a:avLst/>
                <a:gdLst>
                  <a:gd name="T0" fmla="*/ 0 w 1125"/>
                  <a:gd name="T1" fmla="*/ 187 h 187"/>
                  <a:gd name="T2" fmla="*/ 563 w 1125"/>
                  <a:gd name="T3" fmla="*/ 0 h 187"/>
                  <a:gd name="T4" fmla="*/ 1125 w 1125"/>
                  <a:gd name="T5" fmla="*/ 187 h 187"/>
                </a:gdLst>
                <a:ahLst/>
                <a:cxnLst>
                  <a:cxn ang="0">
                    <a:pos x="T0" y="T1"/>
                  </a:cxn>
                  <a:cxn ang="0">
                    <a:pos x="T2" y="T3"/>
                  </a:cxn>
                  <a:cxn ang="0">
                    <a:pos x="T4" y="T5"/>
                  </a:cxn>
                </a:cxnLst>
                <a:rect l="0" t="0" r="r" b="b"/>
                <a:pathLst>
                  <a:path w="1125" h="187">
                    <a:moveTo>
                      <a:pt x="0" y="187"/>
                    </a:moveTo>
                    <a:lnTo>
                      <a:pt x="563" y="0"/>
                    </a:lnTo>
                    <a:lnTo>
                      <a:pt x="1125" y="187"/>
                    </a:lnTo>
                  </a:path>
                </a:pathLst>
              </a:custGeom>
              <a:solidFill>
                <a:srgbClr val="E0E0E0"/>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1" name="Freeform 20">
                <a:extLst>
                  <a:ext uri="{FF2B5EF4-FFF2-40B4-BE49-F238E27FC236}">
                    <a16:creationId xmlns:a16="http://schemas.microsoft.com/office/drawing/2014/main" id="{3C3FEA18-D4F6-039D-8E67-3E58547D5515}"/>
                  </a:ext>
                </a:extLst>
              </p:cNvPr>
              <p:cNvSpPr>
                <a:spLocks/>
              </p:cNvSpPr>
              <p:nvPr/>
            </p:nvSpPr>
            <p:spPr bwMode="auto">
              <a:xfrm>
                <a:off x="4108450" y="3062288"/>
                <a:ext cx="858838" cy="142875"/>
              </a:xfrm>
              <a:custGeom>
                <a:avLst/>
                <a:gdLst>
                  <a:gd name="T0" fmla="*/ 0 w 1125"/>
                  <a:gd name="T1" fmla="*/ 187 h 187"/>
                  <a:gd name="T2" fmla="*/ 563 w 1125"/>
                  <a:gd name="T3" fmla="*/ 0 h 187"/>
                  <a:gd name="T4" fmla="*/ 1125 w 1125"/>
                  <a:gd name="T5" fmla="*/ 187 h 187"/>
                </a:gdLst>
                <a:ahLst/>
                <a:cxnLst>
                  <a:cxn ang="0">
                    <a:pos x="T0" y="T1"/>
                  </a:cxn>
                  <a:cxn ang="0">
                    <a:pos x="T2" y="T3"/>
                  </a:cxn>
                  <a:cxn ang="0">
                    <a:pos x="T4" y="T5"/>
                  </a:cxn>
                </a:cxnLst>
                <a:rect l="0" t="0" r="r" b="b"/>
                <a:pathLst>
                  <a:path w="1125" h="187">
                    <a:moveTo>
                      <a:pt x="0" y="187"/>
                    </a:moveTo>
                    <a:lnTo>
                      <a:pt x="563" y="0"/>
                    </a:lnTo>
                    <a:lnTo>
                      <a:pt x="1125" y="187"/>
                    </a:lnTo>
                  </a:path>
                </a:pathLst>
              </a:custGeom>
              <a:noFill/>
              <a:ln w="9525" cap="rnd">
                <a:solidFill>
                  <a:srgbClr val="40404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dirty="0"/>
              </a:p>
            </p:txBody>
          </p:sp>
          <p:sp>
            <p:nvSpPr>
              <p:cNvPr id="22" name="Rectangle 21">
                <a:extLst>
                  <a:ext uri="{FF2B5EF4-FFF2-40B4-BE49-F238E27FC236}">
                    <a16:creationId xmlns:a16="http://schemas.microsoft.com/office/drawing/2014/main" id="{58518EEB-AA28-6899-E5CD-710BE998FFF8}"/>
                  </a:ext>
                </a:extLst>
              </p:cNvPr>
              <p:cNvSpPr>
                <a:spLocks noChangeArrowheads="1"/>
              </p:cNvSpPr>
              <p:nvPr/>
            </p:nvSpPr>
            <p:spPr bwMode="auto">
              <a:xfrm>
                <a:off x="4108450" y="3209926"/>
                <a:ext cx="858838" cy="952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3" name="Rectangle 22">
                <a:extLst>
                  <a:ext uri="{FF2B5EF4-FFF2-40B4-BE49-F238E27FC236}">
                    <a16:creationId xmlns:a16="http://schemas.microsoft.com/office/drawing/2014/main" id="{F240C6AC-71F1-CB47-FC87-1C4119C73D99}"/>
                  </a:ext>
                </a:extLst>
              </p:cNvPr>
              <p:cNvSpPr>
                <a:spLocks noChangeArrowheads="1"/>
              </p:cNvSpPr>
              <p:nvPr/>
            </p:nvSpPr>
            <p:spPr bwMode="auto">
              <a:xfrm>
                <a:off x="4060825" y="3673476"/>
                <a:ext cx="954088" cy="571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4" name="Rectangle 23">
                <a:extLst>
                  <a:ext uri="{FF2B5EF4-FFF2-40B4-BE49-F238E27FC236}">
                    <a16:creationId xmlns:a16="http://schemas.microsoft.com/office/drawing/2014/main" id="{756FB6D1-E855-0E6F-BFA9-44437B85D033}"/>
                  </a:ext>
                </a:extLst>
              </p:cNvPr>
              <p:cNvSpPr>
                <a:spLocks noChangeArrowheads="1"/>
              </p:cNvSpPr>
              <p:nvPr/>
            </p:nvSpPr>
            <p:spPr bwMode="auto">
              <a:xfrm>
                <a:off x="4108450" y="3616326"/>
                <a:ext cx="858838" cy="571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grpSp>
      </p:grpSp>
      <p:sp>
        <p:nvSpPr>
          <p:cNvPr id="25" name="TextBox 24">
            <a:extLst>
              <a:ext uri="{FF2B5EF4-FFF2-40B4-BE49-F238E27FC236}">
                <a16:creationId xmlns:a16="http://schemas.microsoft.com/office/drawing/2014/main" id="{98920D1E-FDB7-B460-9E4C-2BAADF88CD66}"/>
              </a:ext>
            </a:extLst>
          </p:cNvPr>
          <p:cNvSpPr txBox="1"/>
          <p:nvPr/>
        </p:nvSpPr>
        <p:spPr>
          <a:xfrm>
            <a:off x="4050730" y="114476"/>
            <a:ext cx="987771"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Merchant</a:t>
            </a:r>
          </a:p>
        </p:txBody>
      </p:sp>
      <p:pic>
        <p:nvPicPr>
          <p:cNvPr id="26" name="Picture 6" descr="C:\Users\Anders\AppData\Local\Microsoft\Windows\INetCache\IE\10FYNQXY\Crystal_Clear_kdm_user_female[1].png">
            <a:extLst>
              <a:ext uri="{FF2B5EF4-FFF2-40B4-BE49-F238E27FC236}">
                <a16:creationId xmlns:a16="http://schemas.microsoft.com/office/drawing/2014/main" id="{94F8F635-95AF-C343-C731-ED23C71694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2254" y="390080"/>
            <a:ext cx="680311" cy="65774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E1F9A73E-AE3B-0C47-CC33-A97EE8E9A633}"/>
              </a:ext>
            </a:extLst>
          </p:cNvPr>
          <p:cNvGrpSpPr/>
          <p:nvPr/>
        </p:nvGrpSpPr>
        <p:grpSpPr>
          <a:xfrm>
            <a:off x="2454968" y="496820"/>
            <a:ext cx="439807" cy="550941"/>
            <a:chOff x="1892812" y="5206800"/>
            <a:chExt cx="717232" cy="912439"/>
          </a:xfrm>
        </p:grpSpPr>
        <p:pic>
          <p:nvPicPr>
            <p:cNvPr id="28" name="Picture 4" descr="C:\Users\Anders\AppData\Local\Microsoft\Windows\INetCache\IE\YM8GPEOA\mobile[1].png">
              <a:extLst>
                <a:ext uri="{FF2B5EF4-FFF2-40B4-BE49-F238E27FC236}">
                  <a16:creationId xmlns:a16="http://schemas.microsoft.com/office/drawing/2014/main" id="{897A9F1E-C5D7-15ED-393B-FDCFAD07CD3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0800000">
              <a:off x="1892812" y="5206800"/>
              <a:ext cx="717232" cy="91243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5E4309C4-37C1-29E4-A89F-3F299A851428}"/>
                </a:ext>
              </a:extLst>
            </p:cNvPr>
            <p:cNvSpPr/>
            <p:nvPr/>
          </p:nvSpPr>
          <p:spPr>
            <a:xfrm>
              <a:off x="2021788" y="5351899"/>
              <a:ext cx="442834" cy="62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0" name="TextBox 29">
              <a:extLst>
                <a:ext uri="{FF2B5EF4-FFF2-40B4-BE49-F238E27FC236}">
                  <a16:creationId xmlns:a16="http://schemas.microsoft.com/office/drawing/2014/main" id="{9AB40B14-AC81-3CFD-F1BD-E03845733486}"/>
                </a:ext>
              </a:extLst>
            </p:cNvPr>
            <p:cNvSpPr txBox="1"/>
            <p:nvPr/>
          </p:nvSpPr>
          <p:spPr>
            <a:xfrm>
              <a:off x="1916682" y="5388532"/>
              <a:ext cx="677589" cy="356807"/>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€100</a:t>
              </a:r>
            </a:p>
          </p:txBody>
        </p:sp>
        <p:grpSp>
          <p:nvGrpSpPr>
            <p:cNvPr id="31" name="Group 30">
              <a:extLst>
                <a:ext uri="{FF2B5EF4-FFF2-40B4-BE49-F238E27FC236}">
                  <a16:creationId xmlns:a16="http://schemas.microsoft.com/office/drawing/2014/main" id="{21A551A7-A59B-991A-E63C-767547B04487}"/>
                </a:ext>
              </a:extLst>
            </p:cNvPr>
            <p:cNvGrpSpPr/>
            <p:nvPr/>
          </p:nvGrpSpPr>
          <p:grpSpPr>
            <a:xfrm>
              <a:off x="2159017" y="5746582"/>
              <a:ext cx="145192" cy="130681"/>
              <a:chOff x="7812386" y="2253126"/>
              <a:chExt cx="144016" cy="144016"/>
            </a:xfrm>
          </p:grpSpPr>
          <p:sp>
            <p:nvSpPr>
              <p:cNvPr id="32" name="Rectangle 31">
                <a:extLst>
                  <a:ext uri="{FF2B5EF4-FFF2-40B4-BE49-F238E27FC236}">
                    <a16:creationId xmlns:a16="http://schemas.microsoft.com/office/drawing/2014/main" id="{E2284779-0F28-8406-91C0-56422D94EB3C}"/>
                  </a:ext>
                </a:extLst>
              </p:cNvPr>
              <p:cNvSpPr/>
              <p:nvPr/>
            </p:nvSpPr>
            <p:spPr>
              <a:xfrm>
                <a:off x="7812386" y="2253126"/>
                <a:ext cx="144016" cy="144016"/>
              </a:xfrm>
              <a:prstGeom prst="rect">
                <a:avLst/>
              </a:prstGeom>
              <a:solidFill>
                <a:schemeClr val="bg2"/>
              </a:solidFill>
              <a:ln w="63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3" name="Rectangle 32">
                <a:extLst>
                  <a:ext uri="{FF2B5EF4-FFF2-40B4-BE49-F238E27FC236}">
                    <a16:creationId xmlns:a16="http://schemas.microsoft.com/office/drawing/2014/main" id="{7999588E-DDEA-F39D-2B31-D33221A012B9}"/>
                  </a:ext>
                </a:extLst>
              </p:cNvPr>
              <p:cNvSpPr/>
              <p:nvPr/>
            </p:nvSpPr>
            <p:spPr>
              <a:xfrm>
                <a:off x="7855725" y="2293359"/>
                <a:ext cx="61201" cy="61201"/>
              </a:xfrm>
              <a:prstGeom prst="rect">
                <a:avLst/>
              </a:prstGeom>
              <a:solidFill>
                <a:schemeClr val="bg2"/>
              </a:solidFill>
              <a:ln w="63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sp>
        <p:nvSpPr>
          <p:cNvPr id="34" name="TextBox 33">
            <a:extLst>
              <a:ext uri="{FF2B5EF4-FFF2-40B4-BE49-F238E27FC236}">
                <a16:creationId xmlns:a16="http://schemas.microsoft.com/office/drawing/2014/main" id="{81AC7270-8F92-88C1-27FA-A82C1C26330F}"/>
              </a:ext>
            </a:extLst>
          </p:cNvPr>
          <p:cNvSpPr txBox="1"/>
          <p:nvPr/>
        </p:nvSpPr>
        <p:spPr>
          <a:xfrm>
            <a:off x="427735" y="114476"/>
            <a:ext cx="688009"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Payer</a:t>
            </a:r>
          </a:p>
        </p:txBody>
      </p:sp>
      <p:pic>
        <p:nvPicPr>
          <p:cNvPr id="35" name="Graphic 34">
            <a:extLst>
              <a:ext uri="{FF2B5EF4-FFF2-40B4-BE49-F238E27FC236}">
                <a16:creationId xmlns:a16="http://schemas.microsoft.com/office/drawing/2014/main" id="{510E1E72-7424-E1EB-19E4-7F82DBEAB4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68619" y="507855"/>
            <a:ext cx="751992" cy="530818"/>
          </a:xfrm>
          <a:prstGeom prst="rect">
            <a:avLst/>
          </a:prstGeom>
          <a:effectLst>
            <a:outerShdw blurRad="50800" dist="38100" dir="2700000" algn="tl" rotWithShape="0">
              <a:prstClr val="black">
                <a:alpha val="40000"/>
              </a:prstClr>
            </a:outerShdw>
          </a:effectLst>
        </p:spPr>
      </p:pic>
      <p:sp>
        <p:nvSpPr>
          <p:cNvPr id="36" name="TextBox 35">
            <a:extLst>
              <a:ext uri="{FF2B5EF4-FFF2-40B4-BE49-F238E27FC236}">
                <a16:creationId xmlns:a16="http://schemas.microsoft.com/office/drawing/2014/main" id="{CACB50F6-C26F-7767-A157-85CC4725B70F}"/>
              </a:ext>
            </a:extLst>
          </p:cNvPr>
          <p:cNvSpPr txBox="1"/>
          <p:nvPr/>
        </p:nvSpPr>
        <p:spPr>
          <a:xfrm>
            <a:off x="7437996" y="114476"/>
            <a:ext cx="1180131"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Payer Bank</a:t>
            </a:r>
          </a:p>
        </p:txBody>
      </p:sp>
      <p:cxnSp>
        <p:nvCxnSpPr>
          <p:cNvPr id="37" name="Straight Arrow Connector 36">
            <a:extLst>
              <a:ext uri="{FF2B5EF4-FFF2-40B4-BE49-F238E27FC236}">
                <a16:creationId xmlns:a16="http://schemas.microsoft.com/office/drawing/2014/main" id="{80439E8A-EE69-262E-B976-51126A149A9F}"/>
              </a:ext>
            </a:extLst>
          </p:cNvPr>
          <p:cNvCxnSpPr>
            <a:cxnSpLocks/>
          </p:cNvCxnSpPr>
          <p:nvPr/>
        </p:nvCxnSpPr>
        <p:spPr>
          <a:xfrm flipH="1">
            <a:off x="2664369" y="2588123"/>
            <a:ext cx="1874519" cy="0"/>
          </a:xfrm>
          <a:prstGeom prst="straightConnector1">
            <a:avLst/>
          </a:prstGeom>
          <a:ln w="25400">
            <a:solidFill>
              <a:schemeClr val="accent2">
                <a:lumMod val="60000"/>
                <a:lumOff val="40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89AFE1E-1A08-59F7-E16E-A63E9BCC299E}"/>
              </a:ext>
            </a:extLst>
          </p:cNvPr>
          <p:cNvCxnSpPr>
            <a:cxnSpLocks/>
          </p:cNvCxnSpPr>
          <p:nvPr/>
        </p:nvCxnSpPr>
        <p:spPr>
          <a:xfrm>
            <a:off x="6250852" y="4555907"/>
            <a:ext cx="1775248" cy="0"/>
          </a:xfrm>
          <a:prstGeom prst="straightConnector1">
            <a:avLst/>
          </a:prstGeom>
          <a:ln w="25400">
            <a:solidFill>
              <a:srgbClr val="00B0F0"/>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8CBDB35-9A46-255D-A502-AF534375CF2D}"/>
              </a:ext>
            </a:extLst>
          </p:cNvPr>
          <p:cNvSpPr txBox="1"/>
          <p:nvPr/>
        </p:nvSpPr>
        <p:spPr>
          <a:xfrm>
            <a:off x="2318362" y="114476"/>
            <a:ext cx="712952"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Wallet</a:t>
            </a:r>
          </a:p>
        </p:txBody>
      </p:sp>
      <p:cxnSp>
        <p:nvCxnSpPr>
          <p:cNvPr id="40" name="Straight Arrow Connector 39">
            <a:extLst>
              <a:ext uri="{FF2B5EF4-FFF2-40B4-BE49-F238E27FC236}">
                <a16:creationId xmlns:a16="http://schemas.microsoft.com/office/drawing/2014/main" id="{B01F46A4-88C3-806E-FE3A-383D001C6F1A}"/>
              </a:ext>
            </a:extLst>
          </p:cNvPr>
          <p:cNvCxnSpPr>
            <a:cxnSpLocks/>
          </p:cNvCxnSpPr>
          <p:nvPr/>
        </p:nvCxnSpPr>
        <p:spPr>
          <a:xfrm flipH="1">
            <a:off x="742409" y="1942763"/>
            <a:ext cx="1920240" cy="0"/>
          </a:xfrm>
          <a:prstGeom prst="straightConnector1">
            <a:avLst/>
          </a:prstGeom>
          <a:ln w="25400">
            <a:solidFill>
              <a:schemeClr val="bg1">
                <a:lumMod val="65000"/>
              </a:schemeClr>
            </a:solidFill>
            <a:prstDash val="sysDash"/>
            <a:headEnd type="triangle" w="med" len="med"/>
            <a:tailEnd type="none" w="lg"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AF1FD89-14E4-CB14-0E32-71C42DC11412}"/>
              </a:ext>
            </a:extLst>
          </p:cNvPr>
          <p:cNvSpPr txBox="1"/>
          <p:nvPr/>
        </p:nvSpPr>
        <p:spPr>
          <a:xfrm>
            <a:off x="5932875" y="114476"/>
            <a:ext cx="622286"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PISP</a:t>
            </a:r>
          </a:p>
        </p:txBody>
      </p:sp>
      <p:pic>
        <p:nvPicPr>
          <p:cNvPr id="42" name="Graphic 41">
            <a:extLst>
              <a:ext uri="{FF2B5EF4-FFF2-40B4-BE49-F238E27FC236}">
                <a16:creationId xmlns:a16="http://schemas.microsoft.com/office/drawing/2014/main" id="{A96A0615-32EE-88A5-F71E-AC28AD8B925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75108" y="523861"/>
            <a:ext cx="513367" cy="513367"/>
          </a:xfrm>
          <a:prstGeom prst="rect">
            <a:avLst/>
          </a:prstGeom>
          <a:effectLst>
            <a:outerShdw blurRad="50800" dist="38100" dir="2700000" algn="tl" rotWithShape="0">
              <a:prstClr val="black">
                <a:alpha val="40000"/>
              </a:prstClr>
            </a:outerShdw>
          </a:effectLst>
        </p:spPr>
      </p:pic>
      <p:cxnSp>
        <p:nvCxnSpPr>
          <p:cNvPr id="46" name="Straight Arrow Connector 45">
            <a:extLst>
              <a:ext uri="{FF2B5EF4-FFF2-40B4-BE49-F238E27FC236}">
                <a16:creationId xmlns:a16="http://schemas.microsoft.com/office/drawing/2014/main" id="{0298A7A8-8426-0CBB-C7EA-11A467FC41E9}"/>
              </a:ext>
            </a:extLst>
          </p:cNvPr>
          <p:cNvCxnSpPr>
            <a:cxnSpLocks/>
          </p:cNvCxnSpPr>
          <p:nvPr/>
        </p:nvCxnSpPr>
        <p:spPr>
          <a:xfrm flipH="1">
            <a:off x="4544568" y="3483827"/>
            <a:ext cx="1691640" cy="0"/>
          </a:xfrm>
          <a:prstGeom prst="straightConnector1">
            <a:avLst/>
          </a:prstGeom>
          <a:ln w="25400">
            <a:solidFill>
              <a:schemeClr val="accent2">
                <a:lumMod val="60000"/>
                <a:lumOff val="40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11D6D11-497C-8F76-9E27-850240D8E795}"/>
              </a:ext>
            </a:extLst>
          </p:cNvPr>
          <p:cNvCxnSpPr>
            <a:cxnSpLocks/>
          </p:cNvCxnSpPr>
          <p:nvPr/>
        </p:nvCxnSpPr>
        <p:spPr>
          <a:xfrm flipH="1">
            <a:off x="6231791" y="3806507"/>
            <a:ext cx="1794309" cy="0"/>
          </a:xfrm>
          <a:prstGeom prst="straightConnector1">
            <a:avLst/>
          </a:prstGeom>
          <a:ln w="25400">
            <a:solidFill>
              <a:schemeClr val="accent2">
                <a:lumMod val="60000"/>
                <a:lumOff val="40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B18EF2C-CE55-0072-CC95-2A7167A44321}"/>
              </a:ext>
            </a:extLst>
          </p:cNvPr>
          <p:cNvCxnSpPr>
            <a:cxnSpLocks/>
          </p:cNvCxnSpPr>
          <p:nvPr/>
        </p:nvCxnSpPr>
        <p:spPr>
          <a:xfrm>
            <a:off x="4544568" y="4878587"/>
            <a:ext cx="1691640" cy="0"/>
          </a:xfrm>
          <a:prstGeom prst="straightConnector1">
            <a:avLst/>
          </a:prstGeom>
          <a:ln w="25400">
            <a:solidFill>
              <a:srgbClr val="00B0F0"/>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955A1BA-B938-A6FD-8F07-B7852451EFE1}"/>
              </a:ext>
            </a:extLst>
          </p:cNvPr>
          <p:cNvCxnSpPr>
            <a:cxnSpLocks/>
          </p:cNvCxnSpPr>
          <p:nvPr/>
        </p:nvCxnSpPr>
        <p:spPr>
          <a:xfrm>
            <a:off x="2664369" y="5189075"/>
            <a:ext cx="1874519" cy="0"/>
          </a:xfrm>
          <a:prstGeom prst="straightConnector1">
            <a:avLst/>
          </a:prstGeom>
          <a:ln w="25400">
            <a:solidFill>
              <a:srgbClr val="00B0F0"/>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20B3B23-7C83-ADF1-5DFF-73638A9DAD7C}"/>
              </a:ext>
            </a:extLst>
          </p:cNvPr>
          <p:cNvCxnSpPr>
            <a:cxnSpLocks/>
          </p:cNvCxnSpPr>
          <p:nvPr/>
        </p:nvCxnSpPr>
        <p:spPr>
          <a:xfrm flipH="1">
            <a:off x="742408" y="2265443"/>
            <a:ext cx="1920240" cy="0"/>
          </a:xfrm>
          <a:prstGeom prst="straightConnector1">
            <a:avLst/>
          </a:prstGeom>
          <a:ln w="25400">
            <a:solidFill>
              <a:schemeClr val="bg1">
                <a:lumMod val="65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D36A621-47F2-DBCF-1845-03E9D892C234}"/>
              </a:ext>
            </a:extLst>
          </p:cNvPr>
          <p:cNvCxnSpPr>
            <a:cxnSpLocks/>
          </p:cNvCxnSpPr>
          <p:nvPr/>
        </p:nvCxnSpPr>
        <p:spPr>
          <a:xfrm flipH="1">
            <a:off x="2664369" y="1297403"/>
            <a:ext cx="1874519" cy="0"/>
          </a:xfrm>
          <a:prstGeom prst="straightConnector1">
            <a:avLst/>
          </a:prstGeom>
          <a:ln w="25400">
            <a:solidFill>
              <a:schemeClr val="accent6">
                <a:lumMod val="60000"/>
                <a:lumOff val="40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7010ACA2-190E-D4C0-2DD1-3E71935C6FEE}"/>
              </a:ext>
            </a:extLst>
          </p:cNvPr>
          <p:cNvSpPr txBox="1"/>
          <p:nvPr/>
        </p:nvSpPr>
        <p:spPr>
          <a:xfrm>
            <a:off x="3364115" y="1187704"/>
            <a:ext cx="487928" cy="210639"/>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000" rtlCol="0" anchor="ctr" anchorCtr="1">
            <a:spAutoFit/>
          </a:bodyPr>
          <a:lstStyle/>
          <a:p>
            <a:pPr algn="ctr"/>
            <a:r>
              <a:rPr lang="en-US" sz="1000" dirty="0">
                <a:latin typeface="Arial" panose="020B0604020202020204" pitchFamily="34" charset="0"/>
                <a:cs typeface="Arial" panose="020B0604020202020204" pitchFamily="34" charset="0"/>
              </a:rPr>
              <a:t>“Pay”</a:t>
            </a:r>
          </a:p>
        </p:txBody>
      </p:sp>
      <p:sp>
        <p:nvSpPr>
          <p:cNvPr id="72" name="TextBox 71">
            <a:extLst>
              <a:ext uri="{FF2B5EF4-FFF2-40B4-BE49-F238E27FC236}">
                <a16:creationId xmlns:a16="http://schemas.microsoft.com/office/drawing/2014/main" id="{36433852-5CE5-6CAC-96F1-B6943991630D}"/>
              </a:ext>
            </a:extLst>
          </p:cNvPr>
          <p:cNvSpPr txBox="1"/>
          <p:nvPr/>
        </p:nvSpPr>
        <p:spPr>
          <a:xfrm>
            <a:off x="3014049" y="1510242"/>
            <a:ext cx="1188060" cy="210639"/>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Payment Request</a:t>
            </a:r>
          </a:p>
        </p:txBody>
      </p:sp>
      <p:sp>
        <p:nvSpPr>
          <p:cNvPr id="73" name="TextBox 72">
            <a:extLst>
              <a:ext uri="{FF2B5EF4-FFF2-40B4-BE49-F238E27FC236}">
                <a16:creationId xmlns:a16="http://schemas.microsoft.com/office/drawing/2014/main" id="{84B4D6B4-81A0-A6FB-5C7F-859435F07988}"/>
              </a:ext>
            </a:extLst>
          </p:cNvPr>
          <p:cNvSpPr txBox="1"/>
          <p:nvPr/>
        </p:nvSpPr>
        <p:spPr>
          <a:xfrm>
            <a:off x="1016908" y="1832780"/>
            <a:ext cx="1353147"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Credential Selection</a:t>
            </a:r>
          </a:p>
        </p:txBody>
      </p:sp>
      <p:sp>
        <p:nvSpPr>
          <p:cNvPr id="74" name="TextBox 73">
            <a:extLst>
              <a:ext uri="{FF2B5EF4-FFF2-40B4-BE49-F238E27FC236}">
                <a16:creationId xmlns:a16="http://schemas.microsoft.com/office/drawing/2014/main" id="{E54AFBF4-8192-A0A0-9E3B-E0D786384C95}"/>
              </a:ext>
            </a:extLst>
          </p:cNvPr>
          <p:cNvSpPr txBox="1"/>
          <p:nvPr/>
        </p:nvSpPr>
        <p:spPr>
          <a:xfrm>
            <a:off x="1220963" y="2155801"/>
            <a:ext cx="839958"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“Authorize”</a:t>
            </a:r>
          </a:p>
        </p:txBody>
      </p:sp>
      <p:sp>
        <p:nvSpPr>
          <p:cNvPr id="75" name="TextBox 74">
            <a:extLst>
              <a:ext uri="{FF2B5EF4-FFF2-40B4-BE49-F238E27FC236}">
                <a16:creationId xmlns:a16="http://schemas.microsoft.com/office/drawing/2014/main" id="{1C9D858A-4CBA-9D8C-ACAA-7CFF79BF09D8}"/>
              </a:ext>
            </a:extLst>
          </p:cNvPr>
          <p:cNvSpPr txBox="1"/>
          <p:nvPr/>
        </p:nvSpPr>
        <p:spPr>
          <a:xfrm>
            <a:off x="2963875" y="2478822"/>
            <a:ext cx="1288408"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Payer Authorization</a:t>
            </a:r>
          </a:p>
        </p:txBody>
      </p:sp>
      <p:sp>
        <p:nvSpPr>
          <p:cNvPr id="76" name="TextBox 75">
            <a:extLst>
              <a:ext uri="{FF2B5EF4-FFF2-40B4-BE49-F238E27FC236}">
                <a16:creationId xmlns:a16="http://schemas.microsoft.com/office/drawing/2014/main" id="{D93E0F9C-7873-A1A3-A188-394EB7A35839}"/>
              </a:ext>
            </a:extLst>
          </p:cNvPr>
          <p:cNvSpPr txBox="1"/>
          <p:nvPr/>
        </p:nvSpPr>
        <p:spPr>
          <a:xfrm>
            <a:off x="3195543" y="5081479"/>
            <a:ext cx="897148"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Show Result</a:t>
            </a:r>
          </a:p>
        </p:txBody>
      </p:sp>
      <p:sp>
        <p:nvSpPr>
          <p:cNvPr id="77" name="TextBox 76">
            <a:extLst>
              <a:ext uri="{FF2B5EF4-FFF2-40B4-BE49-F238E27FC236}">
                <a16:creationId xmlns:a16="http://schemas.microsoft.com/office/drawing/2014/main" id="{6E656C9B-CA7C-7754-1E0B-B8AE16B79F55}"/>
              </a:ext>
            </a:extLst>
          </p:cNvPr>
          <p:cNvSpPr txBox="1"/>
          <p:nvPr/>
        </p:nvSpPr>
        <p:spPr>
          <a:xfrm>
            <a:off x="4956198" y="3374867"/>
            <a:ext cx="982117"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PISP Request</a:t>
            </a:r>
          </a:p>
        </p:txBody>
      </p:sp>
      <p:sp>
        <p:nvSpPr>
          <p:cNvPr id="78" name="TextBox 77">
            <a:extLst>
              <a:ext uri="{FF2B5EF4-FFF2-40B4-BE49-F238E27FC236}">
                <a16:creationId xmlns:a16="http://schemas.microsoft.com/office/drawing/2014/main" id="{B1692F58-8680-4508-C4F3-5F17E7E9A89F}"/>
              </a:ext>
            </a:extLst>
          </p:cNvPr>
          <p:cNvSpPr txBox="1"/>
          <p:nvPr/>
        </p:nvSpPr>
        <p:spPr>
          <a:xfrm>
            <a:off x="6544446" y="3697888"/>
            <a:ext cx="1188060"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Payment Initiation</a:t>
            </a:r>
          </a:p>
        </p:txBody>
      </p:sp>
      <p:sp>
        <p:nvSpPr>
          <p:cNvPr id="79" name="TextBox 78">
            <a:extLst>
              <a:ext uri="{FF2B5EF4-FFF2-40B4-BE49-F238E27FC236}">
                <a16:creationId xmlns:a16="http://schemas.microsoft.com/office/drawing/2014/main" id="{EBD53522-16BD-0334-57F6-B6AC06721D62}"/>
              </a:ext>
            </a:extLst>
          </p:cNvPr>
          <p:cNvSpPr txBox="1"/>
          <p:nvPr/>
        </p:nvSpPr>
        <p:spPr>
          <a:xfrm>
            <a:off x="6607498" y="4447629"/>
            <a:ext cx="1074764"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Payment Result</a:t>
            </a:r>
          </a:p>
        </p:txBody>
      </p:sp>
      <p:sp>
        <p:nvSpPr>
          <p:cNvPr id="80" name="TextBox 79">
            <a:extLst>
              <a:ext uri="{FF2B5EF4-FFF2-40B4-BE49-F238E27FC236}">
                <a16:creationId xmlns:a16="http://schemas.microsoft.com/office/drawing/2014/main" id="{A26A0740-9101-3490-7D09-3665E2E2EFCB}"/>
              </a:ext>
            </a:extLst>
          </p:cNvPr>
          <p:cNvSpPr txBox="1"/>
          <p:nvPr/>
        </p:nvSpPr>
        <p:spPr>
          <a:xfrm>
            <a:off x="4861075" y="4770650"/>
            <a:ext cx="1074764"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Payment Result</a:t>
            </a:r>
          </a:p>
        </p:txBody>
      </p:sp>
      <p:sp>
        <p:nvSpPr>
          <p:cNvPr id="93" name="TextBox 92">
            <a:extLst>
              <a:ext uri="{FF2B5EF4-FFF2-40B4-BE49-F238E27FC236}">
                <a16:creationId xmlns:a16="http://schemas.microsoft.com/office/drawing/2014/main" id="{12DBA552-C21D-C776-D94B-EFA051BF16CE}"/>
              </a:ext>
            </a:extLst>
          </p:cNvPr>
          <p:cNvSpPr txBox="1"/>
          <p:nvPr/>
        </p:nvSpPr>
        <p:spPr>
          <a:xfrm>
            <a:off x="3126914" y="5404498"/>
            <a:ext cx="1034405"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Receipt Polling</a:t>
            </a:r>
          </a:p>
        </p:txBody>
      </p:sp>
      <p:sp>
        <p:nvSpPr>
          <p:cNvPr id="95" name="Rounded Rectangle 94">
            <a:extLst>
              <a:ext uri="{FF2B5EF4-FFF2-40B4-BE49-F238E27FC236}">
                <a16:creationId xmlns:a16="http://schemas.microsoft.com/office/drawing/2014/main" id="{85AAAC0E-7307-811A-2BDA-37EF82FECFA3}"/>
              </a:ext>
            </a:extLst>
          </p:cNvPr>
          <p:cNvSpPr/>
          <p:nvPr/>
        </p:nvSpPr>
        <p:spPr>
          <a:xfrm>
            <a:off x="633692" y="1841022"/>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3</a:t>
            </a:r>
          </a:p>
        </p:txBody>
      </p:sp>
      <p:sp>
        <p:nvSpPr>
          <p:cNvPr id="96" name="Rounded Rectangle 95">
            <a:extLst>
              <a:ext uri="{FF2B5EF4-FFF2-40B4-BE49-F238E27FC236}">
                <a16:creationId xmlns:a16="http://schemas.microsoft.com/office/drawing/2014/main" id="{5A09CEF5-D8B4-3E12-FCCF-69A1458226BD}"/>
              </a:ext>
            </a:extLst>
          </p:cNvPr>
          <p:cNvSpPr/>
          <p:nvPr/>
        </p:nvSpPr>
        <p:spPr>
          <a:xfrm>
            <a:off x="2566496" y="1193109"/>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1</a:t>
            </a:r>
          </a:p>
        </p:txBody>
      </p:sp>
      <p:sp>
        <p:nvSpPr>
          <p:cNvPr id="97" name="Rounded Rectangle 96">
            <a:extLst>
              <a:ext uri="{FF2B5EF4-FFF2-40B4-BE49-F238E27FC236}">
                <a16:creationId xmlns:a16="http://schemas.microsoft.com/office/drawing/2014/main" id="{10AB99B0-DB16-6139-DAEE-B0A29D153409}"/>
              </a:ext>
            </a:extLst>
          </p:cNvPr>
          <p:cNvSpPr/>
          <p:nvPr/>
        </p:nvSpPr>
        <p:spPr>
          <a:xfrm>
            <a:off x="4444780" y="1515478"/>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2</a:t>
            </a:r>
          </a:p>
        </p:txBody>
      </p:sp>
      <p:sp>
        <p:nvSpPr>
          <p:cNvPr id="98" name="Rounded Rectangle 97">
            <a:extLst>
              <a:ext uri="{FF2B5EF4-FFF2-40B4-BE49-F238E27FC236}">
                <a16:creationId xmlns:a16="http://schemas.microsoft.com/office/drawing/2014/main" id="{79451E8D-FDBF-6044-6C00-6B45DEDF4469}"/>
              </a:ext>
            </a:extLst>
          </p:cNvPr>
          <p:cNvSpPr/>
          <p:nvPr/>
        </p:nvSpPr>
        <p:spPr>
          <a:xfrm>
            <a:off x="640292" y="2160216"/>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4</a:t>
            </a:r>
          </a:p>
        </p:txBody>
      </p:sp>
      <p:sp>
        <p:nvSpPr>
          <p:cNvPr id="99" name="Rounded Rectangle 98">
            <a:extLst>
              <a:ext uri="{FF2B5EF4-FFF2-40B4-BE49-F238E27FC236}">
                <a16:creationId xmlns:a16="http://schemas.microsoft.com/office/drawing/2014/main" id="{B77CB047-44BA-E472-20DA-4CA0DFFC263A}"/>
              </a:ext>
            </a:extLst>
          </p:cNvPr>
          <p:cNvSpPr/>
          <p:nvPr/>
        </p:nvSpPr>
        <p:spPr>
          <a:xfrm>
            <a:off x="2568877" y="2488935"/>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5</a:t>
            </a:r>
          </a:p>
        </p:txBody>
      </p:sp>
      <p:sp>
        <p:nvSpPr>
          <p:cNvPr id="100" name="Oval 99">
            <a:extLst>
              <a:ext uri="{FF2B5EF4-FFF2-40B4-BE49-F238E27FC236}">
                <a16:creationId xmlns:a16="http://schemas.microsoft.com/office/drawing/2014/main" id="{B4549EAD-E63B-B65C-7DF8-8B7E1999B529}"/>
              </a:ext>
            </a:extLst>
          </p:cNvPr>
          <p:cNvSpPr>
            <a:spLocks/>
          </p:cNvSpPr>
          <p:nvPr/>
        </p:nvSpPr>
        <p:spPr>
          <a:xfrm>
            <a:off x="4421606" y="3370568"/>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6</a:t>
            </a:r>
          </a:p>
        </p:txBody>
      </p:sp>
      <p:sp>
        <p:nvSpPr>
          <p:cNvPr id="101" name="Oval 100">
            <a:extLst>
              <a:ext uri="{FF2B5EF4-FFF2-40B4-BE49-F238E27FC236}">
                <a16:creationId xmlns:a16="http://schemas.microsoft.com/office/drawing/2014/main" id="{7B4C3F7C-BD55-F25E-7912-8E7FFB71F311}"/>
              </a:ext>
            </a:extLst>
          </p:cNvPr>
          <p:cNvSpPr>
            <a:spLocks/>
          </p:cNvSpPr>
          <p:nvPr/>
        </p:nvSpPr>
        <p:spPr>
          <a:xfrm>
            <a:off x="6127444" y="3690818"/>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7</a:t>
            </a:r>
          </a:p>
        </p:txBody>
      </p:sp>
      <p:sp>
        <p:nvSpPr>
          <p:cNvPr id="102" name="Oval 101">
            <a:extLst>
              <a:ext uri="{FF2B5EF4-FFF2-40B4-BE49-F238E27FC236}">
                <a16:creationId xmlns:a16="http://schemas.microsoft.com/office/drawing/2014/main" id="{FFBE5207-2E71-A285-4916-0B04BA30D932}"/>
              </a:ext>
            </a:extLst>
          </p:cNvPr>
          <p:cNvSpPr>
            <a:spLocks/>
          </p:cNvSpPr>
          <p:nvPr/>
        </p:nvSpPr>
        <p:spPr>
          <a:xfrm>
            <a:off x="7914111" y="4444138"/>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8</a:t>
            </a:r>
          </a:p>
        </p:txBody>
      </p:sp>
      <p:sp>
        <p:nvSpPr>
          <p:cNvPr id="103" name="Oval 102">
            <a:extLst>
              <a:ext uri="{FF2B5EF4-FFF2-40B4-BE49-F238E27FC236}">
                <a16:creationId xmlns:a16="http://schemas.microsoft.com/office/drawing/2014/main" id="{6DE94449-CE4A-B10B-2A44-0ABEBF26985A}"/>
              </a:ext>
            </a:extLst>
          </p:cNvPr>
          <p:cNvSpPr>
            <a:spLocks/>
          </p:cNvSpPr>
          <p:nvPr/>
        </p:nvSpPr>
        <p:spPr>
          <a:xfrm>
            <a:off x="6132987" y="4761215"/>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9</a:t>
            </a:r>
          </a:p>
        </p:txBody>
      </p:sp>
      <p:sp>
        <p:nvSpPr>
          <p:cNvPr id="104" name="Rounded Rectangle 103">
            <a:extLst>
              <a:ext uri="{FF2B5EF4-FFF2-40B4-BE49-F238E27FC236}">
                <a16:creationId xmlns:a16="http://schemas.microsoft.com/office/drawing/2014/main" id="{414F043E-F7D1-E4EC-72DE-05B4F0F3E02F}"/>
              </a:ext>
            </a:extLst>
          </p:cNvPr>
          <p:cNvSpPr/>
          <p:nvPr/>
        </p:nvSpPr>
        <p:spPr>
          <a:xfrm>
            <a:off x="4406421" y="5091663"/>
            <a:ext cx="266313" cy="2043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10</a:t>
            </a:r>
          </a:p>
        </p:txBody>
      </p:sp>
      <p:sp>
        <p:nvSpPr>
          <p:cNvPr id="105" name="Rounded Rectangle 104">
            <a:extLst>
              <a:ext uri="{FF2B5EF4-FFF2-40B4-BE49-F238E27FC236}">
                <a16:creationId xmlns:a16="http://schemas.microsoft.com/office/drawing/2014/main" id="{FF6FC9CE-A93A-DD17-9CCF-72E6D072E5A7}"/>
              </a:ext>
            </a:extLst>
          </p:cNvPr>
          <p:cNvSpPr/>
          <p:nvPr/>
        </p:nvSpPr>
        <p:spPr>
          <a:xfrm>
            <a:off x="2527716" y="5408579"/>
            <a:ext cx="266313" cy="2043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11</a:t>
            </a:r>
          </a:p>
        </p:txBody>
      </p:sp>
      <p:sp>
        <p:nvSpPr>
          <p:cNvPr id="106" name="Rounded Rectangle 105">
            <a:extLst>
              <a:ext uri="{FF2B5EF4-FFF2-40B4-BE49-F238E27FC236}">
                <a16:creationId xmlns:a16="http://schemas.microsoft.com/office/drawing/2014/main" id="{59A0A463-5873-FC75-7420-26B7779F7243}"/>
              </a:ext>
            </a:extLst>
          </p:cNvPr>
          <p:cNvSpPr>
            <a:spLocks/>
          </p:cNvSpPr>
          <p:nvPr/>
        </p:nvSpPr>
        <p:spPr>
          <a:xfrm>
            <a:off x="2318362" y="6465611"/>
            <a:ext cx="201168" cy="2011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endParaRPr lang="en-US" sz="1200" dirty="0">
              <a:solidFill>
                <a:schemeClr val="tx1"/>
              </a:solidFill>
            </a:endParaRPr>
          </a:p>
        </p:txBody>
      </p:sp>
      <p:sp>
        <p:nvSpPr>
          <p:cNvPr id="107" name="Oval 106">
            <a:extLst>
              <a:ext uri="{FF2B5EF4-FFF2-40B4-BE49-F238E27FC236}">
                <a16:creationId xmlns:a16="http://schemas.microsoft.com/office/drawing/2014/main" id="{75D1D7FD-29C8-36DA-0F57-3ABFE8BC1E01}"/>
              </a:ext>
            </a:extLst>
          </p:cNvPr>
          <p:cNvSpPr/>
          <p:nvPr/>
        </p:nvSpPr>
        <p:spPr>
          <a:xfrm>
            <a:off x="5013182" y="6445058"/>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endParaRPr lang="en-US" sz="1200" dirty="0">
              <a:solidFill>
                <a:schemeClr val="tx1"/>
              </a:solidFill>
            </a:endParaRPr>
          </a:p>
        </p:txBody>
      </p:sp>
      <p:sp>
        <p:nvSpPr>
          <p:cNvPr id="108" name="TextBox 107">
            <a:extLst>
              <a:ext uri="{FF2B5EF4-FFF2-40B4-BE49-F238E27FC236}">
                <a16:creationId xmlns:a16="http://schemas.microsoft.com/office/drawing/2014/main" id="{0D82BB29-BF79-F1E7-C8A7-E6FFD5BA2E27}"/>
              </a:ext>
            </a:extLst>
          </p:cNvPr>
          <p:cNvSpPr txBox="1"/>
          <p:nvPr/>
        </p:nvSpPr>
        <p:spPr>
          <a:xfrm>
            <a:off x="4379982" y="5790028"/>
            <a:ext cx="3785615" cy="230832"/>
          </a:xfrm>
          <a:prstGeom prst="rect">
            <a:avLst/>
          </a:prstGeom>
          <a:solidFill>
            <a:schemeClr val="bg1"/>
          </a:solidFill>
          <a:ln>
            <a:solidFill>
              <a:schemeClr val="bg1">
                <a:lumMod val="50000"/>
              </a:schemeClr>
            </a:solidFill>
          </a:ln>
        </p:spPr>
        <p:txBody>
          <a:bodyPr wrap="none" tIns="18288" bIns="27432" rtlCol="0">
            <a:noAutofit/>
          </a:bodyPr>
          <a:lstStyle/>
          <a:p>
            <a:pPr algn="ctr"/>
            <a:r>
              <a:rPr lang="en-US" sz="1200" dirty="0"/>
              <a:t>Possible multi-phase payment operations start here…</a:t>
            </a:r>
          </a:p>
        </p:txBody>
      </p:sp>
      <p:sp>
        <p:nvSpPr>
          <p:cNvPr id="109" name="TextBox 108">
            <a:extLst>
              <a:ext uri="{FF2B5EF4-FFF2-40B4-BE49-F238E27FC236}">
                <a16:creationId xmlns:a16="http://schemas.microsoft.com/office/drawing/2014/main" id="{20A54806-D147-3D18-84F7-CA3440F7DEEE}"/>
              </a:ext>
            </a:extLst>
          </p:cNvPr>
          <p:cNvSpPr txBox="1"/>
          <p:nvPr/>
        </p:nvSpPr>
        <p:spPr>
          <a:xfrm>
            <a:off x="2505644" y="6448056"/>
            <a:ext cx="2361609" cy="249299"/>
          </a:xfrm>
          <a:prstGeom prst="rect">
            <a:avLst/>
          </a:prstGeom>
          <a:noFill/>
          <a:ln>
            <a:noFill/>
          </a:ln>
        </p:spPr>
        <p:txBody>
          <a:bodyPr wrap="none" tIns="18288" bIns="45720" rtlCol="0">
            <a:spAutoFit/>
          </a:bodyPr>
          <a:lstStyle/>
          <a:p>
            <a:r>
              <a:rPr lang="en-US" sz="1200" dirty="0"/>
              <a:t>Independent of payment network</a:t>
            </a:r>
          </a:p>
        </p:txBody>
      </p:sp>
      <p:sp>
        <p:nvSpPr>
          <p:cNvPr id="110" name="TextBox 109">
            <a:extLst>
              <a:ext uri="{FF2B5EF4-FFF2-40B4-BE49-F238E27FC236}">
                <a16:creationId xmlns:a16="http://schemas.microsoft.com/office/drawing/2014/main" id="{28F9FB73-32C3-1DFA-E70A-B35E94B2E117}"/>
              </a:ext>
            </a:extLst>
          </p:cNvPr>
          <p:cNvSpPr txBox="1"/>
          <p:nvPr/>
        </p:nvSpPr>
        <p:spPr>
          <a:xfrm>
            <a:off x="5191475" y="6448056"/>
            <a:ext cx="1790618" cy="249299"/>
          </a:xfrm>
          <a:prstGeom prst="rect">
            <a:avLst/>
          </a:prstGeom>
          <a:noFill/>
          <a:ln>
            <a:noFill/>
          </a:ln>
        </p:spPr>
        <p:txBody>
          <a:bodyPr wrap="none" tIns="18288" bIns="45720" rtlCol="0">
            <a:spAutoFit/>
          </a:bodyPr>
          <a:lstStyle/>
          <a:p>
            <a:r>
              <a:rPr lang="en-US" sz="1200" dirty="0"/>
              <a:t>Payment network specific</a:t>
            </a:r>
          </a:p>
        </p:txBody>
      </p:sp>
      <p:sp>
        <p:nvSpPr>
          <p:cNvPr id="111" name="TextBox 110">
            <a:extLst>
              <a:ext uri="{FF2B5EF4-FFF2-40B4-BE49-F238E27FC236}">
                <a16:creationId xmlns:a16="http://schemas.microsoft.com/office/drawing/2014/main" id="{CF2B0DFD-03A2-149F-F361-037236BEF03B}"/>
              </a:ext>
            </a:extLst>
          </p:cNvPr>
          <p:cNvSpPr txBox="1"/>
          <p:nvPr/>
        </p:nvSpPr>
        <p:spPr>
          <a:xfrm>
            <a:off x="4387670" y="2955715"/>
            <a:ext cx="3788281" cy="230832"/>
          </a:xfrm>
          <a:prstGeom prst="rect">
            <a:avLst/>
          </a:prstGeom>
          <a:solidFill>
            <a:schemeClr val="bg1"/>
          </a:solidFill>
          <a:ln>
            <a:solidFill>
              <a:schemeClr val="bg1">
                <a:lumMod val="50000"/>
              </a:schemeClr>
            </a:solidFill>
          </a:ln>
        </p:spPr>
        <p:txBody>
          <a:bodyPr wrap="none" lIns="0" tIns="18288" rIns="0" bIns="27432" rtlCol="0">
            <a:noAutofit/>
          </a:bodyPr>
          <a:lstStyle/>
          <a:p>
            <a:pPr algn="ctr"/>
            <a:r>
              <a:rPr lang="en-US" sz="1200" dirty="0">
                <a:cs typeface="Arial" panose="020B0604020202020204" pitchFamily="34" charset="0"/>
              </a:rPr>
              <a:t>Sample backend flow for SEPA instant payments</a:t>
            </a:r>
          </a:p>
        </p:txBody>
      </p:sp>
      <p:sp>
        <p:nvSpPr>
          <p:cNvPr id="112" name="Oval 111">
            <a:extLst>
              <a:ext uri="{FF2B5EF4-FFF2-40B4-BE49-F238E27FC236}">
                <a16:creationId xmlns:a16="http://schemas.microsoft.com/office/drawing/2014/main" id="{A00FD024-E815-940B-069F-CCBD2B0C2869}"/>
              </a:ext>
            </a:extLst>
          </p:cNvPr>
          <p:cNvSpPr>
            <a:spLocks/>
          </p:cNvSpPr>
          <p:nvPr/>
        </p:nvSpPr>
        <p:spPr>
          <a:xfrm>
            <a:off x="7919247" y="4045342"/>
            <a:ext cx="219456" cy="2194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400" b="1" dirty="0">
                <a:solidFill>
                  <a:srgbClr val="FF0000"/>
                </a:solidFill>
              </a:rPr>
              <a:t>T</a:t>
            </a:r>
          </a:p>
        </p:txBody>
      </p:sp>
      <p:sp>
        <p:nvSpPr>
          <p:cNvPr id="114" name="TextBox 113">
            <a:extLst>
              <a:ext uri="{FF2B5EF4-FFF2-40B4-BE49-F238E27FC236}">
                <a16:creationId xmlns:a16="http://schemas.microsoft.com/office/drawing/2014/main" id="{A6EA9F39-FB4B-E3CA-14F8-CC79D49BEA6F}"/>
              </a:ext>
            </a:extLst>
          </p:cNvPr>
          <p:cNvSpPr txBox="1"/>
          <p:nvPr/>
        </p:nvSpPr>
        <p:spPr>
          <a:xfrm>
            <a:off x="7307295" y="6454152"/>
            <a:ext cx="1265411" cy="249299"/>
          </a:xfrm>
          <a:prstGeom prst="rect">
            <a:avLst/>
          </a:prstGeom>
          <a:noFill/>
          <a:ln>
            <a:noFill/>
          </a:ln>
        </p:spPr>
        <p:txBody>
          <a:bodyPr wrap="none" tIns="18288" bIns="45720" rtlCol="0">
            <a:spAutoFit/>
          </a:bodyPr>
          <a:lstStyle/>
          <a:p>
            <a:r>
              <a:rPr lang="en-US" sz="1200" dirty="0"/>
              <a:t>Transaction point</a:t>
            </a:r>
          </a:p>
        </p:txBody>
      </p:sp>
      <p:cxnSp>
        <p:nvCxnSpPr>
          <p:cNvPr id="2" name="Straight Arrow Connector 1">
            <a:extLst>
              <a:ext uri="{FF2B5EF4-FFF2-40B4-BE49-F238E27FC236}">
                <a16:creationId xmlns:a16="http://schemas.microsoft.com/office/drawing/2014/main" id="{010119D4-2CED-A8FB-D215-EC3BD716F988}"/>
              </a:ext>
            </a:extLst>
          </p:cNvPr>
          <p:cNvCxnSpPr>
            <a:cxnSpLocks/>
          </p:cNvCxnSpPr>
          <p:nvPr/>
        </p:nvCxnSpPr>
        <p:spPr>
          <a:xfrm flipH="1">
            <a:off x="543124" y="5799394"/>
            <a:ext cx="274320" cy="0"/>
          </a:xfrm>
          <a:prstGeom prst="straightConnector1">
            <a:avLst/>
          </a:prstGeom>
          <a:ln w="25400">
            <a:solidFill>
              <a:schemeClr val="accent2">
                <a:lumMod val="60000"/>
                <a:lumOff val="40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9A8C3A31-78C0-9F5C-AF80-C1DF072EEBD2}"/>
              </a:ext>
            </a:extLst>
          </p:cNvPr>
          <p:cNvCxnSpPr>
            <a:cxnSpLocks/>
          </p:cNvCxnSpPr>
          <p:nvPr/>
        </p:nvCxnSpPr>
        <p:spPr>
          <a:xfrm>
            <a:off x="530765" y="6021101"/>
            <a:ext cx="274320" cy="0"/>
          </a:xfrm>
          <a:prstGeom prst="straightConnector1">
            <a:avLst/>
          </a:prstGeom>
          <a:ln w="25400">
            <a:solidFill>
              <a:srgbClr val="00B0F0"/>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08F2BB2A-3FA6-5E0C-5BD4-31549EFAB733}"/>
              </a:ext>
            </a:extLst>
          </p:cNvPr>
          <p:cNvSpPr txBox="1"/>
          <p:nvPr/>
        </p:nvSpPr>
        <p:spPr>
          <a:xfrm>
            <a:off x="792169" y="5673349"/>
            <a:ext cx="876650" cy="249299"/>
          </a:xfrm>
          <a:prstGeom prst="rect">
            <a:avLst/>
          </a:prstGeom>
          <a:noFill/>
          <a:ln>
            <a:noFill/>
          </a:ln>
        </p:spPr>
        <p:txBody>
          <a:bodyPr wrap="none" tIns="18288" bIns="45720" rtlCol="0">
            <a:spAutoFit/>
          </a:bodyPr>
          <a:lstStyle/>
          <a:p>
            <a:r>
              <a:rPr lang="en-US" sz="1200" dirty="0"/>
              <a:t>HTTP POST</a:t>
            </a:r>
          </a:p>
        </p:txBody>
      </p:sp>
      <p:sp>
        <p:nvSpPr>
          <p:cNvPr id="44" name="TextBox 43">
            <a:extLst>
              <a:ext uri="{FF2B5EF4-FFF2-40B4-BE49-F238E27FC236}">
                <a16:creationId xmlns:a16="http://schemas.microsoft.com/office/drawing/2014/main" id="{4BE20589-0578-8B0D-0BFF-E5E3573A6DF2}"/>
              </a:ext>
            </a:extLst>
          </p:cNvPr>
          <p:cNvSpPr txBox="1"/>
          <p:nvPr/>
        </p:nvSpPr>
        <p:spPr>
          <a:xfrm>
            <a:off x="792169" y="5899548"/>
            <a:ext cx="1147494" cy="249299"/>
          </a:xfrm>
          <a:prstGeom prst="rect">
            <a:avLst/>
          </a:prstGeom>
          <a:noFill/>
          <a:ln>
            <a:noFill/>
          </a:ln>
        </p:spPr>
        <p:txBody>
          <a:bodyPr wrap="none" tIns="18288" bIns="45720" rtlCol="0">
            <a:spAutoFit/>
          </a:bodyPr>
          <a:lstStyle/>
          <a:p>
            <a:r>
              <a:rPr lang="en-US" sz="1200" dirty="0"/>
              <a:t>HTTP Response</a:t>
            </a:r>
          </a:p>
        </p:txBody>
      </p:sp>
      <p:pic>
        <p:nvPicPr>
          <p:cNvPr id="45" name="Picture 44">
            <a:hlinkClick r:id="rId9" tooltip="Saturn"/>
            <a:extLst>
              <a:ext uri="{FF2B5EF4-FFF2-40B4-BE49-F238E27FC236}">
                <a16:creationId xmlns:a16="http://schemas.microsoft.com/office/drawing/2014/main" id="{7C873185-7583-FB7B-DBCC-96BD3BF8F05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82756" y="3700021"/>
            <a:ext cx="864096" cy="297309"/>
          </a:xfrm>
          <a:prstGeom prst="rect">
            <a:avLst/>
          </a:prstGeom>
        </p:spPr>
      </p:pic>
      <p:cxnSp>
        <p:nvCxnSpPr>
          <p:cNvPr id="47" name="Straight Arrow Connector 46">
            <a:extLst>
              <a:ext uri="{FF2B5EF4-FFF2-40B4-BE49-F238E27FC236}">
                <a16:creationId xmlns:a16="http://schemas.microsoft.com/office/drawing/2014/main" id="{D322840B-EDE5-7B9E-ACD8-B74345F8CCF3}"/>
              </a:ext>
            </a:extLst>
          </p:cNvPr>
          <p:cNvCxnSpPr>
            <a:cxnSpLocks/>
          </p:cNvCxnSpPr>
          <p:nvPr/>
        </p:nvCxnSpPr>
        <p:spPr>
          <a:xfrm flipH="1">
            <a:off x="543722" y="5578602"/>
            <a:ext cx="274320" cy="0"/>
          </a:xfrm>
          <a:prstGeom prst="straightConnector1">
            <a:avLst/>
          </a:prstGeom>
          <a:ln w="25400">
            <a:solidFill>
              <a:schemeClr val="accent6">
                <a:lumMod val="60000"/>
                <a:lumOff val="40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EB9DB8C-9967-99EE-C1DE-8842BBA5B6AD}"/>
              </a:ext>
            </a:extLst>
          </p:cNvPr>
          <p:cNvSpPr txBox="1"/>
          <p:nvPr/>
        </p:nvSpPr>
        <p:spPr>
          <a:xfrm>
            <a:off x="792767" y="5452557"/>
            <a:ext cx="797526" cy="249299"/>
          </a:xfrm>
          <a:prstGeom prst="rect">
            <a:avLst/>
          </a:prstGeom>
          <a:noFill/>
          <a:ln>
            <a:noFill/>
          </a:ln>
        </p:spPr>
        <p:txBody>
          <a:bodyPr wrap="none" tIns="18288" bIns="45720" rtlCol="0">
            <a:spAutoFit/>
          </a:bodyPr>
          <a:lstStyle/>
          <a:p>
            <a:r>
              <a:rPr lang="en-US" sz="1200" dirty="0"/>
              <a:t>HTTP GET</a:t>
            </a:r>
          </a:p>
        </p:txBody>
      </p:sp>
    </p:spTree>
    <p:extLst>
      <p:ext uri="{BB962C8B-B14F-4D97-AF65-F5344CB8AC3E}">
        <p14:creationId xmlns:p14="http://schemas.microsoft.com/office/powerpoint/2010/main" val="2693712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FEFCDF1-C7C3-799B-0ECD-F4ABB9A6B819}"/>
              </a:ext>
            </a:extLst>
          </p:cNvPr>
          <p:cNvGraphicFramePr>
            <a:graphicFrameLocks noGrp="1"/>
          </p:cNvGraphicFramePr>
          <p:nvPr>
            <p:extLst>
              <p:ext uri="{D42A27DB-BD31-4B8C-83A1-F6EECF244321}">
                <p14:modId xmlns:p14="http://schemas.microsoft.com/office/powerpoint/2010/main" val="2605958663"/>
              </p:ext>
            </p:extLst>
          </p:nvPr>
        </p:nvGraphicFramePr>
        <p:xfrm>
          <a:off x="308918" y="490544"/>
          <a:ext cx="8476735" cy="5786120"/>
        </p:xfrm>
        <a:graphic>
          <a:graphicData uri="http://schemas.openxmlformats.org/drawingml/2006/table">
            <a:tbl>
              <a:tblPr firstRow="1" bandRow="1">
                <a:tableStyleId>{5940675A-B579-460E-94D1-54222C63F5DA}</a:tableStyleId>
              </a:tblPr>
              <a:tblGrid>
                <a:gridCol w="439535">
                  <a:extLst>
                    <a:ext uri="{9D8B030D-6E8A-4147-A177-3AD203B41FA5}">
                      <a16:colId xmlns:a16="http://schemas.microsoft.com/office/drawing/2014/main" val="297328309"/>
                    </a:ext>
                  </a:extLst>
                </a:gridCol>
                <a:gridCol w="8037200">
                  <a:extLst>
                    <a:ext uri="{9D8B030D-6E8A-4147-A177-3AD203B41FA5}">
                      <a16:colId xmlns:a16="http://schemas.microsoft.com/office/drawing/2014/main" val="2809022986"/>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t>The initial operation is to receive a </a:t>
                      </a:r>
                      <a:r>
                        <a:rPr lang="en-US" sz="1200" b="1" dirty="0"/>
                        <a:t>Payment Request</a:t>
                      </a:r>
                      <a:r>
                        <a:rPr lang="en-US" sz="1200" dirty="0"/>
                        <a:t> from the </a:t>
                      </a:r>
                      <a:r>
                        <a:rPr lang="en-US" sz="1200" b="1" dirty="0">
                          <a:solidFill>
                            <a:schemeClr val="accent6">
                              <a:lumMod val="75000"/>
                            </a:schemeClr>
                          </a:solidFill>
                        </a:rPr>
                        <a:t>Merchant</a:t>
                      </a:r>
                      <a:r>
                        <a:rPr lang="en-US" sz="1200" dirty="0"/>
                        <a:t>.  This is usually accomplished by clicking a "Pay" button on a Web page, or accessing a URL given by a QR-code. </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251978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 </a:t>
                      </a:r>
                      <a:r>
                        <a:rPr lang="en-US" sz="1200" i="1" dirty="0"/>
                        <a:t>unsigned</a:t>
                      </a:r>
                      <a:r>
                        <a:rPr lang="en-US" sz="1200" dirty="0"/>
                        <a:t> </a:t>
                      </a:r>
                      <a:r>
                        <a:rPr lang="en-US" sz="1200" b="1" dirty="0"/>
                        <a:t>Payment Request</a:t>
                      </a:r>
                      <a:r>
                        <a:rPr lang="en-US" sz="1200" dirty="0"/>
                        <a:t> is received which in turn opens the </a:t>
                      </a:r>
                      <a:r>
                        <a:rPr lang="en-US" sz="1200" b="1" dirty="0">
                          <a:solidFill>
                            <a:schemeClr val="accent6">
                              <a:lumMod val="75000"/>
                            </a:schemeClr>
                          </a:solidFill>
                        </a:rPr>
                        <a:t>Wallet</a:t>
                      </a:r>
                      <a:r>
                        <a:rPr lang="en-US" sz="1200" dirty="0"/>
                        <a:t> UI.</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450153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Optional</a:t>
                      </a:r>
                      <a:r>
                        <a:rPr lang="en-US" sz="1200" dirty="0"/>
                        <a:t>: The </a:t>
                      </a:r>
                      <a:r>
                        <a:rPr lang="en-US" sz="1200" b="1" dirty="0"/>
                        <a:t>Payment Request</a:t>
                      </a:r>
                      <a:r>
                        <a:rPr lang="en-US" sz="1200" dirty="0"/>
                        <a:t> does not only contains an amount, currency, and the name of the </a:t>
                      </a:r>
                      <a:r>
                        <a:rPr lang="en-US" sz="1200" b="1" dirty="0">
                          <a:solidFill>
                            <a:schemeClr val="accent6">
                              <a:lumMod val="75000"/>
                            </a:schemeClr>
                          </a:solidFill>
                        </a:rPr>
                        <a:t>Merchant</a:t>
                      </a:r>
                      <a:r>
                        <a:rPr lang="en-US" sz="1200" dirty="0"/>
                        <a:t>, but also a </a:t>
                      </a:r>
                      <a:r>
                        <a:rPr lang="en-US" sz="1200" i="1" dirty="0"/>
                        <a:t>list of accepted payment networks</a:t>
                      </a:r>
                      <a:r>
                        <a:rPr lang="en-US" sz="1200" dirty="0"/>
                        <a:t> (SEPA, VISA, etc.).  Only virtual cards in the </a:t>
                      </a:r>
                      <a:r>
                        <a:rPr lang="en-US" sz="1200" b="1" dirty="0">
                          <a:solidFill>
                            <a:schemeClr val="accent6">
                              <a:lumMod val="75000"/>
                            </a:schemeClr>
                          </a:solidFill>
                        </a:rPr>
                        <a:t>Wallet</a:t>
                      </a:r>
                      <a:r>
                        <a:rPr lang="en-US" sz="1200" dirty="0"/>
                        <a:t> matching the list will be selectable in this step.</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960148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t>
                      </a:r>
                      <a:r>
                        <a:rPr lang="en-US" sz="1200" b="1" dirty="0">
                          <a:solidFill>
                            <a:schemeClr val="accent6">
                              <a:lumMod val="75000"/>
                            </a:schemeClr>
                          </a:solidFill>
                        </a:rPr>
                        <a:t>Payer</a:t>
                      </a:r>
                      <a:r>
                        <a:rPr lang="en-US" sz="1200" dirty="0"/>
                        <a:t> authorizes the payment through a biometric operation or by a PIN code.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410312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After </a:t>
                      </a:r>
                      <a:r>
                        <a:rPr lang="en-US" sz="1200" b="1" dirty="0">
                          <a:solidFill>
                            <a:schemeClr val="accent6">
                              <a:lumMod val="75000"/>
                            </a:schemeClr>
                          </a:solidFill>
                        </a:rPr>
                        <a:t>Payer</a:t>
                      </a:r>
                      <a:r>
                        <a:rPr lang="en-US" sz="1200" dirty="0"/>
                        <a:t> authorization, the wallet </a:t>
                      </a:r>
                      <a:r>
                        <a:rPr lang="en-US" sz="1200" b="1" dirty="0">
                          <a:solidFill>
                            <a:srgbClr val="FF0000"/>
                          </a:solidFill>
                        </a:rPr>
                        <a:t>signs</a:t>
                      </a:r>
                      <a:r>
                        <a:rPr lang="en-US" sz="1200" dirty="0"/>
                        <a:t> (using a credential-specific key), the </a:t>
                      </a:r>
                      <a:r>
                        <a:rPr lang="en-US" sz="1200" b="1" dirty="0"/>
                        <a:t>Payment Request</a:t>
                      </a:r>
                      <a:r>
                        <a:rPr lang="en-US" sz="1200" dirty="0"/>
                        <a:t> as well as the data needed for clearing the payment including payer account, bank, and payment network.  To preserve privacy, PII like account and key identifiers are </a:t>
                      </a:r>
                      <a:r>
                        <a:rPr lang="en-US" sz="1200" b="1" dirty="0">
                          <a:solidFill>
                            <a:srgbClr val="FF0000"/>
                          </a:solidFill>
                        </a:rPr>
                        <a:t>encrypted</a:t>
                      </a:r>
                      <a:r>
                        <a:rPr lang="en-US" sz="1200" dirty="0"/>
                        <a:t> by a public key shared by multiple clients.  Only the </a:t>
                      </a:r>
                      <a:r>
                        <a:rPr lang="en-US" sz="1200" b="1" dirty="0">
                          <a:solidFill>
                            <a:schemeClr val="accent6">
                              <a:lumMod val="50000"/>
                            </a:schemeClr>
                          </a:solidFill>
                        </a:rPr>
                        <a:t>Payer Bank</a:t>
                      </a:r>
                      <a:r>
                        <a:rPr lang="en-US" sz="1200" dirty="0"/>
                        <a:t> can decrypt this information.  The completed </a:t>
                      </a:r>
                      <a:r>
                        <a:rPr lang="en-US" sz="1200" b="1" dirty="0"/>
                        <a:t>Payer Authorization</a:t>
                      </a:r>
                      <a:r>
                        <a:rPr lang="en-US" sz="1200" dirty="0"/>
                        <a:t> object is returned to the </a:t>
                      </a:r>
                      <a:r>
                        <a:rPr lang="en-US" sz="1200" b="1" dirty="0">
                          <a:solidFill>
                            <a:schemeClr val="accent6">
                              <a:lumMod val="75000"/>
                            </a:schemeClr>
                          </a:solidFill>
                        </a:rPr>
                        <a:t>Merchant</a:t>
                      </a:r>
                      <a:r>
                        <a:rPr lang="en-US" sz="1200" dirty="0"/>
                        <a: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8841384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Since the </a:t>
                      </a:r>
                      <a:r>
                        <a:rPr lang="en-US" sz="1200" b="1" dirty="0">
                          <a:solidFill>
                            <a:schemeClr val="accent6">
                              <a:lumMod val="75000"/>
                            </a:schemeClr>
                          </a:solidFill>
                        </a:rPr>
                        <a:t>Wallet</a:t>
                      </a:r>
                      <a:r>
                        <a:rPr lang="en-US" sz="1200" dirty="0"/>
                        <a:t> supports multiple payment networks, the </a:t>
                      </a:r>
                      <a:r>
                        <a:rPr lang="en-US" sz="1200" b="1" dirty="0">
                          <a:solidFill>
                            <a:schemeClr val="accent6">
                              <a:lumMod val="75000"/>
                            </a:schemeClr>
                          </a:solidFill>
                        </a:rPr>
                        <a:t>Merchant</a:t>
                      </a:r>
                      <a:r>
                        <a:rPr lang="en-US" sz="1200" dirty="0"/>
                        <a:t> must now select the proper method and route based on the received </a:t>
                      </a:r>
                      <a:r>
                        <a:rPr lang="en-US" sz="1200" b="1" dirty="0"/>
                        <a:t>Payer Authorization</a:t>
                      </a:r>
                      <a:r>
                        <a:rPr lang="en-US" sz="1200" dirty="0"/>
                        <a:t> object. The sample diagram shows the anticipated backend for SEPA instant payments. The </a:t>
                      </a:r>
                      <a:r>
                        <a:rPr lang="en-US" sz="1200" b="1" dirty="0">
                          <a:solidFill>
                            <a:schemeClr val="accent6">
                              <a:lumMod val="75000"/>
                            </a:schemeClr>
                          </a:solidFill>
                        </a:rPr>
                        <a:t>Merchant</a:t>
                      </a:r>
                      <a:r>
                        <a:rPr lang="en-US" sz="1200" dirty="0"/>
                        <a:t> creates a </a:t>
                      </a:r>
                      <a:r>
                        <a:rPr lang="en-US" sz="1200" b="1" dirty="0"/>
                        <a:t>PISP Request</a:t>
                      </a:r>
                      <a:r>
                        <a:rPr lang="en-US" sz="1200" dirty="0"/>
                        <a:t> document containing the </a:t>
                      </a:r>
                      <a:r>
                        <a:rPr lang="en-US" sz="1200" b="1" dirty="0"/>
                        <a:t>Payer Authorization</a:t>
                      </a:r>
                      <a:r>
                        <a:rPr lang="en-US" sz="1200" dirty="0"/>
                        <a:t> object, the </a:t>
                      </a:r>
                      <a:r>
                        <a:rPr lang="en-US" sz="1200" b="1" dirty="0">
                          <a:solidFill>
                            <a:schemeClr val="accent6">
                              <a:lumMod val="75000"/>
                            </a:schemeClr>
                          </a:solidFill>
                        </a:rPr>
                        <a:t>Merchant</a:t>
                      </a:r>
                      <a:r>
                        <a:rPr lang="en-US" sz="1200" dirty="0"/>
                        <a:t>'s receive account, and a timestamp. Then the </a:t>
                      </a:r>
                      <a:r>
                        <a:rPr lang="en-US" sz="1200" b="1" dirty="0">
                          <a:solidFill>
                            <a:schemeClr val="accent6">
                              <a:lumMod val="75000"/>
                            </a:schemeClr>
                          </a:solidFill>
                        </a:rPr>
                        <a:t>Merchant</a:t>
                      </a:r>
                      <a:r>
                        <a:rPr lang="en-US" sz="1200" dirty="0"/>
                        <a:t> </a:t>
                      </a:r>
                      <a:r>
                        <a:rPr lang="en-US" sz="1200" b="1" dirty="0">
                          <a:solidFill>
                            <a:srgbClr val="FF0000"/>
                          </a:solidFill>
                        </a:rPr>
                        <a:t>signs</a:t>
                      </a:r>
                      <a:r>
                        <a:rPr lang="en-US" sz="1200" dirty="0"/>
                        <a:t> the request and sends completed message to a </a:t>
                      </a:r>
                      <a:r>
                        <a:rPr lang="en-US" sz="1200" b="1" dirty="0">
                          <a:solidFill>
                            <a:schemeClr val="accent6">
                              <a:lumMod val="75000"/>
                            </a:schemeClr>
                          </a:solidFill>
                        </a:rPr>
                        <a:t>PISP</a:t>
                      </a:r>
                      <a:r>
                        <a:rPr lang="en-US" sz="1200" dirty="0"/>
                        <a:t> it has a business relation with.</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90441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t>
                      </a:r>
                      <a:r>
                        <a:rPr lang="en-US" sz="1200" b="1" dirty="0">
                          <a:solidFill>
                            <a:schemeClr val="accent6">
                              <a:lumMod val="75000"/>
                            </a:schemeClr>
                          </a:solidFill>
                        </a:rPr>
                        <a:t>PISP</a:t>
                      </a:r>
                      <a:r>
                        <a:rPr lang="en-US" sz="1200" dirty="0"/>
                        <a:t> authenticates the </a:t>
                      </a:r>
                      <a:r>
                        <a:rPr lang="en-US" sz="1200" b="1" dirty="0">
                          <a:solidFill>
                            <a:schemeClr val="accent6">
                              <a:lumMod val="50000"/>
                            </a:schemeClr>
                          </a:solidFill>
                        </a:rPr>
                        <a:t>Merchant</a:t>
                      </a:r>
                      <a:r>
                        <a:rPr lang="en-US" sz="1200" dirty="0"/>
                        <a:t> and validates the claimed name and account number.  Next the </a:t>
                      </a:r>
                      <a:r>
                        <a:rPr lang="en-US" sz="1200" b="1" dirty="0">
                          <a:solidFill>
                            <a:schemeClr val="accent6">
                              <a:lumMod val="75000"/>
                            </a:schemeClr>
                          </a:solidFill>
                        </a:rPr>
                        <a:t>PISP</a:t>
                      </a:r>
                      <a:r>
                        <a:rPr lang="en-US" sz="1200" dirty="0"/>
                        <a:t> creates a </a:t>
                      </a:r>
                      <a:r>
                        <a:rPr lang="en-US" sz="1200" b="1" dirty="0"/>
                        <a:t>Payment Initiation</a:t>
                      </a:r>
                      <a:r>
                        <a:rPr lang="en-US" sz="1200" dirty="0"/>
                        <a:t> message including the </a:t>
                      </a:r>
                      <a:r>
                        <a:rPr lang="en-US" sz="1200" b="1" dirty="0"/>
                        <a:t>PISP Request</a:t>
                      </a:r>
                      <a:r>
                        <a:rPr lang="en-US" sz="1200" dirty="0"/>
                        <a:t>, </a:t>
                      </a:r>
                      <a:r>
                        <a:rPr lang="en-US" sz="1200" b="1" dirty="0">
                          <a:solidFill>
                            <a:srgbClr val="FF0000"/>
                          </a:solidFill>
                        </a:rPr>
                        <a:t>signs</a:t>
                      </a:r>
                      <a:r>
                        <a:rPr lang="en-US" sz="1200" dirty="0"/>
                        <a:t> it and sends it to the </a:t>
                      </a:r>
                      <a:r>
                        <a:rPr lang="en-US" sz="1200" b="1" dirty="0">
                          <a:solidFill>
                            <a:schemeClr val="accent6">
                              <a:lumMod val="75000"/>
                            </a:schemeClr>
                          </a:solidFill>
                        </a:rPr>
                        <a:t>Payer Bank</a:t>
                      </a:r>
                      <a:r>
                        <a:rPr lang="en-US" sz="1200" dirty="0"/>
                        <a: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130735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Now the </a:t>
                      </a:r>
                      <a:r>
                        <a:rPr lang="en-US" sz="1200" b="1" dirty="0">
                          <a:solidFill>
                            <a:schemeClr val="accent6">
                              <a:lumMod val="75000"/>
                            </a:schemeClr>
                          </a:solidFill>
                        </a:rPr>
                        <a:t>Payer Bank</a:t>
                      </a:r>
                      <a:r>
                        <a:rPr lang="en-US" sz="1200" dirty="0"/>
                        <a:t> should have all the data needed for performing the transaction.  However, first the </a:t>
                      </a:r>
                      <a:r>
                        <a:rPr lang="en-US" sz="1200" b="1" dirty="0"/>
                        <a:t>Payer Authorization</a:t>
                      </a:r>
                      <a:r>
                        <a:rPr lang="en-US" sz="1200" dirty="0"/>
                        <a:t> object must be </a:t>
                      </a:r>
                      <a:r>
                        <a:rPr lang="en-US" sz="1200" b="1" dirty="0">
                          <a:solidFill>
                            <a:srgbClr val="FF0000"/>
                          </a:solidFill>
                        </a:rPr>
                        <a:t>decrypted</a:t>
                      </a:r>
                      <a:r>
                        <a:rPr lang="en-US" sz="1200" dirty="0"/>
                        <a:t> and the payer signature be </a:t>
                      </a:r>
                      <a:r>
                        <a:rPr lang="en-US" sz="1200" b="1" dirty="0">
                          <a:solidFill>
                            <a:srgbClr val="FF0000"/>
                          </a:solidFill>
                        </a:rPr>
                        <a:t>validated</a:t>
                      </a:r>
                      <a:r>
                        <a:rPr lang="en-US" sz="1200" dirty="0"/>
                        <a:t>.  The account must also be checked for available funds.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0665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Return a newly created </a:t>
                      </a:r>
                      <a:r>
                        <a:rPr lang="en-US" sz="1200" b="1" dirty="0"/>
                        <a:t>Return Status</a:t>
                      </a:r>
                      <a:r>
                        <a:rPr lang="en-US" sz="1200" dirty="0"/>
                        <a:t> for the transaction </a:t>
                      </a:r>
                      <a:r>
                        <a:rPr lang="en-US" sz="1200" b="1" dirty="0">
                          <a:solidFill>
                            <a:srgbClr val="FF0000"/>
                          </a:solidFill>
                        </a:rPr>
                        <a:t>signed</a:t>
                      </a:r>
                      <a:r>
                        <a:rPr lang="en-US" sz="1200" dirty="0"/>
                        <a:t> by the </a:t>
                      </a:r>
                      <a:r>
                        <a:rPr lang="en-US" sz="1200" b="1" dirty="0">
                          <a:solidFill>
                            <a:schemeClr val="accent6">
                              <a:lumMod val="75000"/>
                            </a:schemeClr>
                          </a:solidFill>
                        </a:rPr>
                        <a:t>Payer Bank</a:t>
                      </a:r>
                      <a:r>
                        <a:rPr lang="en-US" sz="1200" dirty="0"/>
                        <a: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858719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Propagating </a:t>
                      </a:r>
                      <a:r>
                        <a:rPr lang="en-US" sz="1200" b="1" dirty="0"/>
                        <a:t>Return Status</a:t>
                      </a:r>
                      <a:r>
                        <a:rPr lang="en-US" sz="1200" dirty="0"/>
                        <a: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173545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Show the result to the </a:t>
                      </a:r>
                      <a:r>
                        <a:rPr lang="en-US" sz="1200" b="1" dirty="0">
                          <a:solidFill>
                            <a:schemeClr val="accent6">
                              <a:lumMod val="75000"/>
                            </a:schemeClr>
                          </a:solidFill>
                        </a:rPr>
                        <a:t>Payer</a:t>
                      </a:r>
                      <a:r>
                        <a:rPr lang="en-US" sz="1200" dirty="0"/>
                        <a: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67681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t>If the </a:t>
                      </a:r>
                      <a:r>
                        <a:rPr lang="en-US" sz="1200" b="1" dirty="0"/>
                        <a:t>Payment Request</a:t>
                      </a:r>
                      <a:r>
                        <a:rPr lang="en-US" sz="1200" dirty="0"/>
                        <a:t> contained a receiptUrl, the </a:t>
                      </a:r>
                      <a:r>
                        <a:rPr lang="en-US" sz="1200" b="1" dirty="0">
                          <a:solidFill>
                            <a:schemeClr val="accent6">
                              <a:lumMod val="75000"/>
                            </a:schemeClr>
                          </a:solidFill>
                        </a:rPr>
                        <a:t>Wallet</a:t>
                      </a:r>
                      <a:r>
                        <a:rPr lang="en-US" sz="1200" dirty="0"/>
                        <a:t> should now try to retrieve the receipt by slowly polling the URL.</a:t>
                      </a:r>
                      <a:br>
                        <a:rPr lang="en-US" sz="1200" dirty="0"/>
                      </a:br>
                      <a:r>
                        <a:rPr lang="en-US" sz="1200" dirty="0">
                          <a:hlinkClick r:id="rId3"/>
                        </a:rPr>
                        <a:t>https://cyberphone.github.io/doc/defensive-publications/e-receipts.pdf</a:t>
                      </a:r>
                      <a:endParaRPr 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6564293"/>
                  </a:ext>
                </a:extLst>
              </a:tr>
            </a:tbl>
          </a:graphicData>
        </a:graphic>
      </p:graphicFrame>
      <p:sp>
        <p:nvSpPr>
          <p:cNvPr id="6" name="Rounded Rectangle 5">
            <a:extLst>
              <a:ext uri="{FF2B5EF4-FFF2-40B4-BE49-F238E27FC236}">
                <a16:creationId xmlns:a16="http://schemas.microsoft.com/office/drawing/2014/main" id="{EC774499-60E7-B784-65FC-181D9C45EE48}"/>
              </a:ext>
            </a:extLst>
          </p:cNvPr>
          <p:cNvSpPr/>
          <p:nvPr/>
        </p:nvSpPr>
        <p:spPr>
          <a:xfrm>
            <a:off x="471768" y="615874"/>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lIns="45720" tIns="0" rIns="45720" bIns="0" rtlCol="0" anchor="ctr">
            <a:spAutoFit/>
          </a:bodyPr>
          <a:lstStyle/>
          <a:p>
            <a:pPr algn="ctr"/>
            <a:r>
              <a:rPr lang="en-US" sz="1200" dirty="0">
                <a:solidFill>
                  <a:schemeClr val="tx1"/>
                </a:solidFill>
              </a:rPr>
              <a:t>1</a:t>
            </a:r>
          </a:p>
        </p:txBody>
      </p:sp>
      <p:sp>
        <p:nvSpPr>
          <p:cNvPr id="7" name="Rounded Rectangle 6">
            <a:extLst>
              <a:ext uri="{FF2B5EF4-FFF2-40B4-BE49-F238E27FC236}">
                <a16:creationId xmlns:a16="http://schemas.microsoft.com/office/drawing/2014/main" id="{39F3163C-1359-7CEB-176E-823E16009F53}"/>
              </a:ext>
            </a:extLst>
          </p:cNvPr>
          <p:cNvSpPr/>
          <p:nvPr/>
        </p:nvSpPr>
        <p:spPr>
          <a:xfrm>
            <a:off x="471768" y="1025975"/>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2</a:t>
            </a:r>
          </a:p>
        </p:txBody>
      </p:sp>
      <p:sp>
        <p:nvSpPr>
          <p:cNvPr id="8" name="Rounded Rectangle 7">
            <a:extLst>
              <a:ext uri="{FF2B5EF4-FFF2-40B4-BE49-F238E27FC236}">
                <a16:creationId xmlns:a16="http://schemas.microsoft.com/office/drawing/2014/main" id="{FE0923D3-24B0-A862-5C27-BA89C9F436AD}"/>
              </a:ext>
            </a:extLst>
          </p:cNvPr>
          <p:cNvSpPr/>
          <p:nvPr/>
        </p:nvSpPr>
        <p:spPr>
          <a:xfrm>
            <a:off x="471768" y="1441880"/>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3</a:t>
            </a:r>
          </a:p>
        </p:txBody>
      </p:sp>
      <p:sp>
        <p:nvSpPr>
          <p:cNvPr id="9" name="Rounded Rectangle 8">
            <a:extLst>
              <a:ext uri="{FF2B5EF4-FFF2-40B4-BE49-F238E27FC236}">
                <a16:creationId xmlns:a16="http://schemas.microsoft.com/office/drawing/2014/main" id="{C2986A89-0CD1-EE28-7F0F-E0ABA31553B4}"/>
              </a:ext>
            </a:extLst>
          </p:cNvPr>
          <p:cNvSpPr/>
          <p:nvPr/>
        </p:nvSpPr>
        <p:spPr>
          <a:xfrm>
            <a:off x="471768" y="1856324"/>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4</a:t>
            </a:r>
          </a:p>
        </p:txBody>
      </p:sp>
      <p:sp>
        <p:nvSpPr>
          <p:cNvPr id="10" name="Rounded Rectangle 9">
            <a:extLst>
              <a:ext uri="{FF2B5EF4-FFF2-40B4-BE49-F238E27FC236}">
                <a16:creationId xmlns:a16="http://schemas.microsoft.com/office/drawing/2014/main" id="{6025F90A-41B0-4342-9CDF-09A9B09E4A37}"/>
              </a:ext>
            </a:extLst>
          </p:cNvPr>
          <p:cNvSpPr/>
          <p:nvPr/>
        </p:nvSpPr>
        <p:spPr>
          <a:xfrm>
            <a:off x="471768" y="2451743"/>
            <a:ext cx="189059" cy="2025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5</a:t>
            </a:r>
          </a:p>
        </p:txBody>
      </p:sp>
      <p:sp>
        <p:nvSpPr>
          <p:cNvPr id="11" name="Oval 10">
            <a:extLst>
              <a:ext uri="{FF2B5EF4-FFF2-40B4-BE49-F238E27FC236}">
                <a16:creationId xmlns:a16="http://schemas.microsoft.com/office/drawing/2014/main" id="{76F5EF22-2A59-FF0F-6BC8-A3089260135D}"/>
              </a:ext>
            </a:extLst>
          </p:cNvPr>
          <p:cNvSpPr>
            <a:spLocks/>
          </p:cNvSpPr>
          <p:nvPr/>
        </p:nvSpPr>
        <p:spPr>
          <a:xfrm>
            <a:off x="456569" y="3276226"/>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6</a:t>
            </a:r>
          </a:p>
        </p:txBody>
      </p:sp>
      <p:sp>
        <p:nvSpPr>
          <p:cNvPr id="12" name="Oval 11">
            <a:extLst>
              <a:ext uri="{FF2B5EF4-FFF2-40B4-BE49-F238E27FC236}">
                <a16:creationId xmlns:a16="http://schemas.microsoft.com/office/drawing/2014/main" id="{395D354B-7230-1FB4-0A20-B2DECA54EAAB}"/>
              </a:ext>
            </a:extLst>
          </p:cNvPr>
          <p:cNvSpPr>
            <a:spLocks/>
          </p:cNvSpPr>
          <p:nvPr/>
        </p:nvSpPr>
        <p:spPr>
          <a:xfrm>
            <a:off x="456569" y="3913976"/>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7</a:t>
            </a:r>
          </a:p>
        </p:txBody>
      </p:sp>
      <p:sp>
        <p:nvSpPr>
          <p:cNvPr id="13" name="Oval 12">
            <a:extLst>
              <a:ext uri="{FF2B5EF4-FFF2-40B4-BE49-F238E27FC236}">
                <a16:creationId xmlns:a16="http://schemas.microsoft.com/office/drawing/2014/main" id="{397684CE-B7B6-CCC1-5057-A9EB5FFC8764}"/>
              </a:ext>
            </a:extLst>
          </p:cNvPr>
          <p:cNvSpPr>
            <a:spLocks/>
          </p:cNvSpPr>
          <p:nvPr/>
        </p:nvSpPr>
        <p:spPr>
          <a:xfrm>
            <a:off x="456569" y="4784771"/>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8</a:t>
            </a:r>
          </a:p>
        </p:txBody>
      </p:sp>
      <p:sp>
        <p:nvSpPr>
          <p:cNvPr id="14" name="Oval 13">
            <a:extLst>
              <a:ext uri="{FF2B5EF4-FFF2-40B4-BE49-F238E27FC236}">
                <a16:creationId xmlns:a16="http://schemas.microsoft.com/office/drawing/2014/main" id="{57B44514-CD63-CD1F-5AE9-A62B1FC0796F}"/>
              </a:ext>
            </a:extLst>
          </p:cNvPr>
          <p:cNvSpPr>
            <a:spLocks/>
          </p:cNvSpPr>
          <p:nvPr/>
        </p:nvSpPr>
        <p:spPr>
          <a:xfrm>
            <a:off x="456569" y="5149473"/>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9</a:t>
            </a:r>
          </a:p>
        </p:txBody>
      </p:sp>
      <p:sp>
        <p:nvSpPr>
          <p:cNvPr id="15" name="Rounded Rectangle 14">
            <a:extLst>
              <a:ext uri="{FF2B5EF4-FFF2-40B4-BE49-F238E27FC236}">
                <a16:creationId xmlns:a16="http://schemas.microsoft.com/office/drawing/2014/main" id="{EC1228DC-C5FA-77F4-F86D-A06614578951}"/>
              </a:ext>
            </a:extLst>
          </p:cNvPr>
          <p:cNvSpPr/>
          <p:nvPr/>
        </p:nvSpPr>
        <p:spPr>
          <a:xfrm>
            <a:off x="433141" y="5533896"/>
            <a:ext cx="266313" cy="2043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10</a:t>
            </a:r>
          </a:p>
        </p:txBody>
      </p:sp>
      <p:sp>
        <p:nvSpPr>
          <p:cNvPr id="16" name="Rounded Rectangle 15">
            <a:extLst>
              <a:ext uri="{FF2B5EF4-FFF2-40B4-BE49-F238E27FC236}">
                <a16:creationId xmlns:a16="http://schemas.microsoft.com/office/drawing/2014/main" id="{383F9B37-3CB1-A5FF-F159-C33430F3FAFD}"/>
              </a:ext>
            </a:extLst>
          </p:cNvPr>
          <p:cNvSpPr/>
          <p:nvPr/>
        </p:nvSpPr>
        <p:spPr>
          <a:xfrm>
            <a:off x="433141" y="5956042"/>
            <a:ext cx="266313" cy="2043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200" dirty="0">
                <a:solidFill>
                  <a:schemeClr val="tx1"/>
                </a:solidFill>
              </a:rPr>
              <a:t>11</a:t>
            </a:r>
          </a:p>
        </p:txBody>
      </p:sp>
      <p:sp>
        <p:nvSpPr>
          <p:cNvPr id="17" name="Oval 16">
            <a:extLst>
              <a:ext uri="{FF2B5EF4-FFF2-40B4-BE49-F238E27FC236}">
                <a16:creationId xmlns:a16="http://schemas.microsoft.com/office/drawing/2014/main" id="{CE2D7419-612A-380B-69D7-D0DD7D13747A}"/>
              </a:ext>
            </a:extLst>
          </p:cNvPr>
          <p:cNvSpPr>
            <a:spLocks/>
          </p:cNvSpPr>
          <p:nvPr/>
        </p:nvSpPr>
        <p:spPr>
          <a:xfrm>
            <a:off x="456569" y="4363750"/>
            <a:ext cx="219456" cy="2194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spAutoFit/>
          </a:bodyPr>
          <a:lstStyle/>
          <a:p>
            <a:pPr algn="ctr"/>
            <a:r>
              <a:rPr lang="en-US" sz="1400" b="1" dirty="0">
                <a:solidFill>
                  <a:srgbClr val="FF0000"/>
                </a:solidFill>
              </a:rPr>
              <a:t>T</a:t>
            </a:r>
          </a:p>
        </p:txBody>
      </p:sp>
    </p:spTree>
    <p:extLst>
      <p:ext uri="{BB962C8B-B14F-4D97-AF65-F5344CB8AC3E}">
        <p14:creationId xmlns:p14="http://schemas.microsoft.com/office/powerpoint/2010/main" val="3789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CEE23FA7-F42C-F55F-8176-81559F5FE023}"/>
              </a:ext>
            </a:extLst>
          </p:cNvPr>
          <p:cNvCxnSpPr>
            <a:cxnSpLocks/>
          </p:cNvCxnSpPr>
          <p:nvPr/>
        </p:nvCxnSpPr>
        <p:spPr>
          <a:xfrm>
            <a:off x="7717422" y="1553323"/>
            <a:ext cx="0" cy="248716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FB9602C-C997-AD98-DBBD-983AE97447F2}"/>
              </a:ext>
            </a:extLst>
          </p:cNvPr>
          <p:cNvCxnSpPr>
            <a:cxnSpLocks/>
          </p:cNvCxnSpPr>
          <p:nvPr/>
        </p:nvCxnSpPr>
        <p:spPr>
          <a:xfrm>
            <a:off x="3230533" y="1553323"/>
            <a:ext cx="0" cy="314553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B03047C-F8FD-8D08-D902-32CFDCFF56C4}"/>
              </a:ext>
            </a:extLst>
          </p:cNvPr>
          <p:cNvCxnSpPr>
            <a:cxnSpLocks/>
          </p:cNvCxnSpPr>
          <p:nvPr/>
        </p:nvCxnSpPr>
        <p:spPr>
          <a:xfrm>
            <a:off x="1522605" y="1553323"/>
            <a:ext cx="0" cy="356616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AB203E6F-F23B-8863-83FC-840CC380ED23}"/>
              </a:ext>
            </a:extLst>
          </p:cNvPr>
          <p:cNvGrpSpPr/>
          <p:nvPr/>
        </p:nvGrpSpPr>
        <p:grpSpPr>
          <a:xfrm>
            <a:off x="7293592" y="1165108"/>
            <a:ext cx="947256" cy="721062"/>
            <a:chOff x="7147252" y="442948"/>
            <a:chExt cx="877761" cy="613096"/>
          </a:xfrm>
        </p:grpSpPr>
        <p:sp>
          <p:nvSpPr>
            <p:cNvPr id="13" name="Rectangle 12">
              <a:extLst>
                <a:ext uri="{FF2B5EF4-FFF2-40B4-BE49-F238E27FC236}">
                  <a16:creationId xmlns:a16="http://schemas.microsoft.com/office/drawing/2014/main" id="{CD7075C9-CB77-2FEB-BCAF-D848188CBF21}"/>
                </a:ext>
              </a:extLst>
            </p:cNvPr>
            <p:cNvSpPr/>
            <p:nvPr/>
          </p:nvSpPr>
          <p:spPr>
            <a:xfrm>
              <a:off x="7179321" y="617808"/>
              <a:ext cx="845692" cy="3572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A458B05B-4395-F4EA-7F89-DFE5F22466EA}"/>
                </a:ext>
              </a:extLst>
            </p:cNvPr>
            <p:cNvGrpSpPr/>
            <p:nvPr/>
          </p:nvGrpSpPr>
          <p:grpSpPr>
            <a:xfrm>
              <a:off x="7147252" y="442948"/>
              <a:ext cx="845696" cy="613096"/>
              <a:chOff x="4013200" y="3014663"/>
              <a:chExt cx="1117600" cy="828675"/>
            </a:xfrm>
            <a:effectLst>
              <a:outerShdw blurRad="50800" dist="38100" dir="2700000" algn="tl" rotWithShape="0">
                <a:prstClr val="black">
                  <a:alpha val="40000"/>
                </a:prstClr>
              </a:outerShdw>
            </a:effectLst>
          </p:grpSpPr>
          <p:sp>
            <p:nvSpPr>
              <p:cNvPr id="15" name="AutoShape 3">
                <a:extLst>
                  <a:ext uri="{FF2B5EF4-FFF2-40B4-BE49-F238E27FC236}">
                    <a16:creationId xmlns:a16="http://schemas.microsoft.com/office/drawing/2014/main" id="{BBEF83D3-A554-4AC3-0DB7-AEE467989155}"/>
                  </a:ext>
                </a:extLst>
              </p:cNvPr>
              <p:cNvSpPr>
                <a:spLocks noChangeAspect="1" noChangeArrowheads="1" noTextEdit="1"/>
              </p:cNvSpPr>
              <p:nvPr/>
            </p:nvSpPr>
            <p:spPr bwMode="auto">
              <a:xfrm>
                <a:off x="4013200" y="3014663"/>
                <a:ext cx="11176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US" sz="1350" dirty="0"/>
              </a:p>
            </p:txBody>
          </p:sp>
          <p:sp>
            <p:nvSpPr>
              <p:cNvPr id="16" name="Rectangle 15">
                <a:extLst>
                  <a:ext uri="{FF2B5EF4-FFF2-40B4-BE49-F238E27FC236}">
                    <a16:creationId xmlns:a16="http://schemas.microsoft.com/office/drawing/2014/main" id="{57B9FFB0-54AA-54BE-B419-A943299F290F}"/>
                  </a:ext>
                </a:extLst>
              </p:cNvPr>
              <p:cNvSpPr/>
              <p:nvPr/>
            </p:nvSpPr>
            <p:spPr>
              <a:xfrm>
                <a:off x="4382104"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7" name="Rectangle 16">
                <a:extLst>
                  <a:ext uri="{FF2B5EF4-FFF2-40B4-BE49-F238E27FC236}">
                    <a16:creationId xmlns:a16="http://schemas.microsoft.com/office/drawing/2014/main" id="{50C752DB-1896-6819-A939-12F95736AA21}"/>
                  </a:ext>
                </a:extLst>
              </p:cNvPr>
              <p:cNvSpPr/>
              <p:nvPr/>
            </p:nvSpPr>
            <p:spPr>
              <a:xfrm>
                <a:off x="4588637"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 name="Rectangle 17">
                <a:extLst>
                  <a:ext uri="{FF2B5EF4-FFF2-40B4-BE49-F238E27FC236}">
                    <a16:creationId xmlns:a16="http://schemas.microsoft.com/office/drawing/2014/main" id="{5721D24F-57F2-9619-6EDF-C9048B317701}"/>
                  </a:ext>
                </a:extLst>
              </p:cNvPr>
              <p:cNvSpPr/>
              <p:nvPr/>
            </p:nvSpPr>
            <p:spPr>
              <a:xfrm>
                <a:off x="4795170"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9" name="Rectangle 18">
                <a:extLst>
                  <a:ext uri="{FF2B5EF4-FFF2-40B4-BE49-F238E27FC236}">
                    <a16:creationId xmlns:a16="http://schemas.microsoft.com/office/drawing/2014/main" id="{86E18479-A9D0-ED08-639B-9C37D141680B}"/>
                  </a:ext>
                </a:extLst>
              </p:cNvPr>
              <p:cNvSpPr/>
              <p:nvPr/>
            </p:nvSpPr>
            <p:spPr>
              <a:xfrm>
                <a:off x="4175571"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0" name="Freeform 19">
                <a:extLst>
                  <a:ext uri="{FF2B5EF4-FFF2-40B4-BE49-F238E27FC236}">
                    <a16:creationId xmlns:a16="http://schemas.microsoft.com/office/drawing/2014/main" id="{4D7B7543-2EC1-6D6A-211D-1726CC64D0E4}"/>
                  </a:ext>
                </a:extLst>
              </p:cNvPr>
              <p:cNvSpPr>
                <a:spLocks/>
              </p:cNvSpPr>
              <p:nvPr/>
            </p:nvSpPr>
            <p:spPr bwMode="auto">
              <a:xfrm>
                <a:off x="4108450" y="3062288"/>
                <a:ext cx="858838" cy="142875"/>
              </a:xfrm>
              <a:custGeom>
                <a:avLst/>
                <a:gdLst>
                  <a:gd name="T0" fmla="*/ 0 w 1125"/>
                  <a:gd name="T1" fmla="*/ 187 h 187"/>
                  <a:gd name="T2" fmla="*/ 563 w 1125"/>
                  <a:gd name="T3" fmla="*/ 0 h 187"/>
                  <a:gd name="T4" fmla="*/ 1125 w 1125"/>
                  <a:gd name="T5" fmla="*/ 187 h 187"/>
                </a:gdLst>
                <a:ahLst/>
                <a:cxnLst>
                  <a:cxn ang="0">
                    <a:pos x="T0" y="T1"/>
                  </a:cxn>
                  <a:cxn ang="0">
                    <a:pos x="T2" y="T3"/>
                  </a:cxn>
                  <a:cxn ang="0">
                    <a:pos x="T4" y="T5"/>
                  </a:cxn>
                </a:cxnLst>
                <a:rect l="0" t="0" r="r" b="b"/>
                <a:pathLst>
                  <a:path w="1125" h="187">
                    <a:moveTo>
                      <a:pt x="0" y="187"/>
                    </a:moveTo>
                    <a:lnTo>
                      <a:pt x="563" y="0"/>
                    </a:lnTo>
                    <a:lnTo>
                      <a:pt x="1125" y="187"/>
                    </a:lnTo>
                  </a:path>
                </a:pathLst>
              </a:custGeom>
              <a:solidFill>
                <a:srgbClr val="E0E0E0"/>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1" name="Freeform 20">
                <a:extLst>
                  <a:ext uri="{FF2B5EF4-FFF2-40B4-BE49-F238E27FC236}">
                    <a16:creationId xmlns:a16="http://schemas.microsoft.com/office/drawing/2014/main" id="{3C3FEA18-D4F6-039D-8E67-3E58547D5515}"/>
                  </a:ext>
                </a:extLst>
              </p:cNvPr>
              <p:cNvSpPr>
                <a:spLocks/>
              </p:cNvSpPr>
              <p:nvPr/>
            </p:nvSpPr>
            <p:spPr bwMode="auto">
              <a:xfrm>
                <a:off x="4108450" y="3062288"/>
                <a:ext cx="858838" cy="142875"/>
              </a:xfrm>
              <a:custGeom>
                <a:avLst/>
                <a:gdLst>
                  <a:gd name="T0" fmla="*/ 0 w 1125"/>
                  <a:gd name="T1" fmla="*/ 187 h 187"/>
                  <a:gd name="T2" fmla="*/ 563 w 1125"/>
                  <a:gd name="T3" fmla="*/ 0 h 187"/>
                  <a:gd name="T4" fmla="*/ 1125 w 1125"/>
                  <a:gd name="T5" fmla="*/ 187 h 187"/>
                </a:gdLst>
                <a:ahLst/>
                <a:cxnLst>
                  <a:cxn ang="0">
                    <a:pos x="T0" y="T1"/>
                  </a:cxn>
                  <a:cxn ang="0">
                    <a:pos x="T2" y="T3"/>
                  </a:cxn>
                  <a:cxn ang="0">
                    <a:pos x="T4" y="T5"/>
                  </a:cxn>
                </a:cxnLst>
                <a:rect l="0" t="0" r="r" b="b"/>
                <a:pathLst>
                  <a:path w="1125" h="187">
                    <a:moveTo>
                      <a:pt x="0" y="187"/>
                    </a:moveTo>
                    <a:lnTo>
                      <a:pt x="563" y="0"/>
                    </a:lnTo>
                    <a:lnTo>
                      <a:pt x="1125" y="187"/>
                    </a:lnTo>
                  </a:path>
                </a:pathLst>
              </a:custGeom>
              <a:noFill/>
              <a:ln w="9525" cap="rnd">
                <a:solidFill>
                  <a:srgbClr val="40404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dirty="0"/>
              </a:p>
            </p:txBody>
          </p:sp>
          <p:sp>
            <p:nvSpPr>
              <p:cNvPr id="22" name="Rectangle 21">
                <a:extLst>
                  <a:ext uri="{FF2B5EF4-FFF2-40B4-BE49-F238E27FC236}">
                    <a16:creationId xmlns:a16="http://schemas.microsoft.com/office/drawing/2014/main" id="{58518EEB-AA28-6899-E5CD-710BE998FFF8}"/>
                  </a:ext>
                </a:extLst>
              </p:cNvPr>
              <p:cNvSpPr>
                <a:spLocks noChangeArrowheads="1"/>
              </p:cNvSpPr>
              <p:nvPr/>
            </p:nvSpPr>
            <p:spPr bwMode="auto">
              <a:xfrm>
                <a:off x="4108450" y="3209926"/>
                <a:ext cx="858838" cy="952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3" name="Rectangle 22">
                <a:extLst>
                  <a:ext uri="{FF2B5EF4-FFF2-40B4-BE49-F238E27FC236}">
                    <a16:creationId xmlns:a16="http://schemas.microsoft.com/office/drawing/2014/main" id="{F240C6AC-71F1-CB47-FC87-1C4119C73D99}"/>
                  </a:ext>
                </a:extLst>
              </p:cNvPr>
              <p:cNvSpPr>
                <a:spLocks noChangeArrowheads="1"/>
              </p:cNvSpPr>
              <p:nvPr/>
            </p:nvSpPr>
            <p:spPr bwMode="auto">
              <a:xfrm>
                <a:off x="4060825" y="3673476"/>
                <a:ext cx="954088" cy="571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24" name="Rectangle 23">
                <a:extLst>
                  <a:ext uri="{FF2B5EF4-FFF2-40B4-BE49-F238E27FC236}">
                    <a16:creationId xmlns:a16="http://schemas.microsoft.com/office/drawing/2014/main" id="{756FB6D1-E855-0E6F-BFA9-44437B85D033}"/>
                  </a:ext>
                </a:extLst>
              </p:cNvPr>
              <p:cNvSpPr>
                <a:spLocks noChangeArrowheads="1"/>
              </p:cNvSpPr>
              <p:nvPr/>
            </p:nvSpPr>
            <p:spPr bwMode="auto">
              <a:xfrm>
                <a:off x="4108450" y="3616326"/>
                <a:ext cx="858838" cy="571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grpSp>
      </p:grpSp>
      <p:sp>
        <p:nvSpPr>
          <p:cNvPr id="25" name="TextBox 24">
            <a:extLst>
              <a:ext uri="{FF2B5EF4-FFF2-40B4-BE49-F238E27FC236}">
                <a16:creationId xmlns:a16="http://schemas.microsoft.com/office/drawing/2014/main" id="{98920D1E-FDB7-B460-9E4C-2BAADF88CD66}"/>
              </a:ext>
            </a:extLst>
          </p:cNvPr>
          <p:cNvSpPr txBox="1"/>
          <p:nvPr/>
        </p:nvSpPr>
        <p:spPr>
          <a:xfrm>
            <a:off x="1034182" y="844506"/>
            <a:ext cx="987771"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Merchant</a:t>
            </a:r>
          </a:p>
        </p:txBody>
      </p:sp>
      <p:pic>
        <p:nvPicPr>
          <p:cNvPr id="35" name="Graphic 34">
            <a:extLst>
              <a:ext uri="{FF2B5EF4-FFF2-40B4-BE49-F238E27FC236}">
                <a16:creationId xmlns:a16="http://schemas.microsoft.com/office/drawing/2014/main" id="{510E1E72-7424-E1EB-19E4-7F82DBEAB4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2071" y="1237885"/>
            <a:ext cx="751992" cy="530818"/>
          </a:xfrm>
          <a:prstGeom prst="rect">
            <a:avLst/>
          </a:prstGeom>
          <a:effectLst>
            <a:outerShdw blurRad="50800" dist="38100" dir="2700000" algn="tl" rotWithShape="0">
              <a:prstClr val="black">
                <a:alpha val="40000"/>
              </a:prstClr>
            </a:outerShdw>
          </a:effectLst>
        </p:spPr>
      </p:pic>
      <p:sp>
        <p:nvSpPr>
          <p:cNvPr id="36" name="TextBox 35">
            <a:extLst>
              <a:ext uri="{FF2B5EF4-FFF2-40B4-BE49-F238E27FC236}">
                <a16:creationId xmlns:a16="http://schemas.microsoft.com/office/drawing/2014/main" id="{CACB50F6-C26F-7767-A157-85CC4725B70F}"/>
              </a:ext>
            </a:extLst>
          </p:cNvPr>
          <p:cNvSpPr txBox="1"/>
          <p:nvPr/>
        </p:nvSpPr>
        <p:spPr>
          <a:xfrm>
            <a:off x="6982390" y="844506"/>
            <a:ext cx="1479892"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Merchant Bank</a:t>
            </a:r>
          </a:p>
        </p:txBody>
      </p:sp>
      <p:cxnSp>
        <p:nvCxnSpPr>
          <p:cNvPr id="38" name="Straight Arrow Connector 37">
            <a:extLst>
              <a:ext uri="{FF2B5EF4-FFF2-40B4-BE49-F238E27FC236}">
                <a16:creationId xmlns:a16="http://schemas.microsoft.com/office/drawing/2014/main" id="{C89AFE1E-1A08-59F7-E16E-A63E9BCC299E}"/>
              </a:ext>
            </a:extLst>
          </p:cNvPr>
          <p:cNvCxnSpPr>
            <a:cxnSpLocks/>
          </p:cNvCxnSpPr>
          <p:nvPr/>
        </p:nvCxnSpPr>
        <p:spPr>
          <a:xfrm>
            <a:off x="3234258" y="3254512"/>
            <a:ext cx="4023360" cy="0"/>
          </a:xfrm>
          <a:prstGeom prst="straightConnector1">
            <a:avLst/>
          </a:prstGeom>
          <a:ln w="25400">
            <a:solidFill>
              <a:srgbClr val="00B0F0"/>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298A7A8-8426-0CBB-C7EA-11A467FC41E9}"/>
              </a:ext>
            </a:extLst>
          </p:cNvPr>
          <p:cNvCxnSpPr>
            <a:cxnSpLocks/>
          </p:cNvCxnSpPr>
          <p:nvPr/>
        </p:nvCxnSpPr>
        <p:spPr>
          <a:xfrm flipH="1">
            <a:off x="1531247" y="2614432"/>
            <a:ext cx="1691640" cy="0"/>
          </a:xfrm>
          <a:prstGeom prst="straightConnector1">
            <a:avLst/>
          </a:prstGeom>
          <a:ln w="25400">
            <a:solidFill>
              <a:schemeClr val="accent4"/>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11D6D11-497C-8F76-9E27-850240D8E795}"/>
              </a:ext>
            </a:extLst>
          </p:cNvPr>
          <p:cNvCxnSpPr>
            <a:cxnSpLocks/>
          </p:cNvCxnSpPr>
          <p:nvPr/>
        </p:nvCxnSpPr>
        <p:spPr>
          <a:xfrm flipH="1">
            <a:off x="3215968" y="2934472"/>
            <a:ext cx="4023360" cy="0"/>
          </a:xfrm>
          <a:prstGeom prst="straightConnector1">
            <a:avLst/>
          </a:prstGeom>
          <a:ln w="25400">
            <a:solidFill>
              <a:schemeClr val="accent6">
                <a:lumMod val="60000"/>
                <a:lumOff val="40000"/>
              </a:schemeClr>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B18EF2C-CE55-0072-CC95-2A7167A44321}"/>
              </a:ext>
            </a:extLst>
          </p:cNvPr>
          <p:cNvCxnSpPr>
            <a:cxnSpLocks/>
          </p:cNvCxnSpPr>
          <p:nvPr/>
        </p:nvCxnSpPr>
        <p:spPr>
          <a:xfrm>
            <a:off x="1517557" y="4427176"/>
            <a:ext cx="1691640" cy="0"/>
          </a:xfrm>
          <a:prstGeom prst="straightConnector1">
            <a:avLst/>
          </a:prstGeom>
          <a:ln w="25400">
            <a:solidFill>
              <a:srgbClr val="00B0F0"/>
            </a:solidFill>
            <a:prstDash val="solid"/>
            <a:headEnd type="triangle" w="med" len="med"/>
            <a:tailEnd type="none" w="lg" len="me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E656C9B-CA7C-7754-1E0B-B8AE16B79F55}"/>
              </a:ext>
            </a:extLst>
          </p:cNvPr>
          <p:cNvSpPr txBox="1"/>
          <p:nvPr/>
        </p:nvSpPr>
        <p:spPr>
          <a:xfrm>
            <a:off x="1787880" y="2509758"/>
            <a:ext cx="1188060"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Payment Initiation</a:t>
            </a:r>
          </a:p>
        </p:txBody>
      </p:sp>
      <p:sp>
        <p:nvSpPr>
          <p:cNvPr id="78" name="TextBox 77">
            <a:extLst>
              <a:ext uri="{FF2B5EF4-FFF2-40B4-BE49-F238E27FC236}">
                <a16:creationId xmlns:a16="http://schemas.microsoft.com/office/drawing/2014/main" id="{B1692F58-8680-4508-C4F3-5F17E7E9A89F}"/>
              </a:ext>
            </a:extLst>
          </p:cNvPr>
          <p:cNvSpPr txBox="1"/>
          <p:nvPr/>
        </p:nvSpPr>
        <p:spPr>
          <a:xfrm>
            <a:off x="4724231" y="2827389"/>
            <a:ext cx="1158927"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Merchant Lookup</a:t>
            </a:r>
          </a:p>
        </p:txBody>
      </p:sp>
      <p:sp>
        <p:nvSpPr>
          <p:cNvPr id="79" name="TextBox 78">
            <a:extLst>
              <a:ext uri="{FF2B5EF4-FFF2-40B4-BE49-F238E27FC236}">
                <a16:creationId xmlns:a16="http://schemas.microsoft.com/office/drawing/2014/main" id="{EBD53522-16BD-0334-57F6-B6AC06721D62}"/>
              </a:ext>
            </a:extLst>
          </p:cNvPr>
          <p:cNvSpPr txBox="1"/>
          <p:nvPr/>
        </p:nvSpPr>
        <p:spPr>
          <a:xfrm>
            <a:off x="4640880" y="3151370"/>
            <a:ext cx="1325633"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Core Merchant Data</a:t>
            </a:r>
          </a:p>
        </p:txBody>
      </p:sp>
      <p:sp>
        <p:nvSpPr>
          <p:cNvPr id="80" name="TextBox 79">
            <a:extLst>
              <a:ext uri="{FF2B5EF4-FFF2-40B4-BE49-F238E27FC236}">
                <a16:creationId xmlns:a16="http://schemas.microsoft.com/office/drawing/2014/main" id="{A26A0740-9101-3490-7D09-3665E2E2EFCB}"/>
              </a:ext>
            </a:extLst>
          </p:cNvPr>
          <p:cNvSpPr txBox="1"/>
          <p:nvPr/>
        </p:nvSpPr>
        <p:spPr>
          <a:xfrm>
            <a:off x="1844527" y="4322133"/>
            <a:ext cx="1074764" cy="211122"/>
          </a:xfrm>
          <a:prstGeom prst="roundRect">
            <a:avLst/>
          </a:prstGeom>
          <a:solidFill>
            <a:srgbClr val="FFF6D9"/>
          </a:solidFill>
          <a:ln w="12700">
            <a:solidFill>
              <a:schemeClr val="bg1">
                <a:lumMod val="50000"/>
              </a:schemeClr>
            </a:solidFill>
          </a:ln>
          <a:effectLst>
            <a:outerShdw blurRad="50800" dist="38100" dir="2700000" algn="tl" rotWithShape="0">
              <a:prstClr val="black">
                <a:alpha val="40000"/>
              </a:prstClr>
            </a:outerShdw>
          </a:effectLst>
        </p:spPr>
        <p:txBody>
          <a:bodyPr wrap="none" lIns="81000" tIns="9144" rIns="81000" bIns="27432" rtlCol="0" anchor="ctr" anchorCtr="1">
            <a:spAutoFit/>
          </a:bodyPr>
          <a:lstStyle/>
          <a:p>
            <a:pPr algn="ctr"/>
            <a:r>
              <a:rPr lang="en-US" sz="1000" dirty="0">
                <a:latin typeface="Arial" panose="020B0604020202020204" pitchFamily="34" charset="0"/>
                <a:cs typeface="Arial" panose="020B0604020202020204" pitchFamily="34" charset="0"/>
              </a:rPr>
              <a:t>Payment Result</a:t>
            </a:r>
          </a:p>
        </p:txBody>
      </p:sp>
      <p:sp>
        <p:nvSpPr>
          <p:cNvPr id="100" name="Oval 99">
            <a:extLst>
              <a:ext uri="{FF2B5EF4-FFF2-40B4-BE49-F238E27FC236}">
                <a16:creationId xmlns:a16="http://schemas.microsoft.com/office/drawing/2014/main" id="{B4549EAD-E63B-B65C-7DF8-8B7E1999B529}"/>
              </a:ext>
            </a:extLst>
          </p:cNvPr>
          <p:cNvSpPr>
            <a:spLocks/>
          </p:cNvSpPr>
          <p:nvPr/>
        </p:nvSpPr>
        <p:spPr>
          <a:xfrm>
            <a:off x="1406781" y="2503028"/>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6</a:t>
            </a:r>
          </a:p>
        </p:txBody>
      </p:sp>
      <p:sp>
        <p:nvSpPr>
          <p:cNvPr id="101" name="Oval 100">
            <a:extLst>
              <a:ext uri="{FF2B5EF4-FFF2-40B4-BE49-F238E27FC236}">
                <a16:creationId xmlns:a16="http://schemas.microsoft.com/office/drawing/2014/main" id="{7B4C3F7C-BD55-F25E-7912-8E7FFB71F311}"/>
              </a:ext>
            </a:extLst>
          </p:cNvPr>
          <p:cNvSpPr>
            <a:spLocks/>
          </p:cNvSpPr>
          <p:nvPr/>
        </p:nvSpPr>
        <p:spPr>
          <a:xfrm>
            <a:off x="3114073" y="2821000"/>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7</a:t>
            </a:r>
          </a:p>
        </p:txBody>
      </p:sp>
      <p:sp>
        <p:nvSpPr>
          <p:cNvPr id="103" name="Oval 102">
            <a:extLst>
              <a:ext uri="{FF2B5EF4-FFF2-40B4-BE49-F238E27FC236}">
                <a16:creationId xmlns:a16="http://schemas.microsoft.com/office/drawing/2014/main" id="{6DE94449-CE4A-B10B-2A44-0ABEBF26985A}"/>
              </a:ext>
            </a:extLst>
          </p:cNvPr>
          <p:cNvSpPr>
            <a:spLocks/>
          </p:cNvSpPr>
          <p:nvPr/>
        </p:nvSpPr>
        <p:spPr>
          <a:xfrm>
            <a:off x="3119616" y="4313252"/>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9</a:t>
            </a:r>
          </a:p>
        </p:txBody>
      </p:sp>
      <p:grpSp>
        <p:nvGrpSpPr>
          <p:cNvPr id="2" name="Group 1">
            <a:extLst>
              <a:ext uri="{FF2B5EF4-FFF2-40B4-BE49-F238E27FC236}">
                <a16:creationId xmlns:a16="http://schemas.microsoft.com/office/drawing/2014/main" id="{B494813C-7156-48E9-E5D1-4DFE888025E6}"/>
              </a:ext>
            </a:extLst>
          </p:cNvPr>
          <p:cNvGrpSpPr/>
          <p:nvPr/>
        </p:nvGrpSpPr>
        <p:grpSpPr>
          <a:xfrm>
            <a:off x="2812624" y="1163030"/>
            <a:ext cx="947256" cy="721062"/>
            <a:chOff x="7147252" y="442948"/>
            <a:chExt cx="877761" cy="613096"/>
          </a:xfrm>
        </p:grpSpPr>
        <p:sp>
          <p:nvSpPr>
            <p:cNvPr id="3" name="Rectangle 2">
              <a:extLst>
                <a:ext uri="{FF2B5EF4-FFF2-40B4-BE49-F238E27FC236}">
                  <a16:creationId xmlns:a16="http://schemas.microsoft.com/office/drawing/2014/main" id="{46D6F79F-0BD5-A9EC-108D-EFB2BFBADF2A}"/>
                </a:ext>
              </a:extLst>
            </p:cNvPr>
            <p:cNvSpPr/>
            <p:nvPr/>
          </p:nvSpPr>
          <p:spPr>
            <a:xfrm>
              <a:off x="7179321" y="617808"/>
              <a:ext cx="845692" cy="3572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3" name="Group 42">
              <a:extLst>
                <a:ext uri="{FF2B5EF4-FFF2-40B4-BE49-F238E27FC236}">
                  <a16:creationId xmlns:a16="http://schemas.microsoft.com/office/drawing/2014/main" id="{C6368F69-2F0D-941E-B897-53251BA5C118}"/>
                </a:ext>
              </a:extLst>
            </p:cNvPr>
            <p:cNvGrpSpPr/>
            <p:nvPr/>
          </p:nvGrpSpPr>
          <p:grpSpPr>
            <a:xfrm>
              <a:off x="7147252" y="442948"/>
              <a:ext cx="845696" cy="613096"/>
              <a:chOff x="4013200" y="3014663"/>
              <a:chExt cx="1117600" cy="828675"/>
            </a:xfrm>
            <a:effectLst>
              <a:outerShdw blurRad="50800" dist="38100" dir="2700000" algn="tl" rotWithShape="0">
                <a:prstClr val="black">
                  <a:alpha val="40000"/>
                </a:prstClr>
              </a:outerShdw>
            </a:effectLst>
          </p:grpSpPr>
          <p:sp>
            <p:nvSpPr>
              <p:cNvPr id="44" name="AutoShape 3">
                <a:extLst>
                  <a:ext uri="{FF2B5EF4-FFF2-40B4-BE49-F238E27FC236}">
                    <a16:creationId xmlns:a16="http://schemas.microsoft.com/office/drawing/2014/main" id="{20A9B59A-E8AD-CC0D-1B17-A3A605A8D5B3}"/>
                  </a:ext>
                </a:extLst>
              </p:cNvPr>
              <p:cNvSpPr>
                <a:spLocks noChangeAspect="1" noChangeArrowheads="1" noTextEdit="1"/>
              </p:cNvSpPr>
              <p:nvPr/>
            </p:nvSpPr>
            <p:spPr bwMode="auto">
              <a:xfrm>
                <a:off x="4013200" y="3014663"/>
                <a:ext cx="11176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n-US" sz="1350" dirty="0"/>
              </a:p>
            </p:txBody>
          </p:sp>
          <p:sp>
            <p:nvSpPr>
              <p:cNvPr id="45" name="Rectangle 44">
                <a:extLst>
                  <a:ext uri="{FF2B5EF4-FFF2-40B4-BE49-F238E27FC236}">
                    <a16:creationId xmlns:a16="http://schemas.microsoft.com/office/drawing/2014/main" id="{554D90C3-6EB4-A7C3-9D13-046534369560}"/>
                  </a:ext>
                </a:extLst>
              </p:cNvPr>
              <p:cNvSpPr/>
              <p:nvPr/>
            </p:nvSpPr>
            <p:spPr>
              <a:xfrm>
                <a:off x="4382104"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7" name="Rectangle 46">
                <a:extLst>
                  <a:ext uri="{FF2B5EF4-FFF2-40B4-BE49-F238E27FC236}">
                    <a16:creationId xmlns:a16="http://schemas.microsoft.com/office/drawing/2014/main" id="{F131EC4F-5310-ACD3-C81C-7D419F07A6CB}"/>
                  </a:ext>
                </a:extLst>
              </p:cNvPr>
              <p:cNvSpPr/>
              <p:nvPr/>
            </p:nvSpPr>
            <p:spPr>
              <a:xfrm>
                <a:off x="4588637"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9" name="Rectangle 48">
                <a:extLst>
                  <a:ext uri="{FF2B5EF4-FFF2-40B4-BE49-F238E27FC236}">
                    <a16:creationId xmlns:a16="http://schemas.microsoft.com/office/drawing/2014/main" id="{C95A426A-4A89-7E57-482A-334A0629300A}"/>
                  </a:ext>
                </a:extLst>
              </p:cNvPr>
              <p:cNvSpPr/>
              <p:nvPr/>
            </p:nvSpPr>
            <p:spPr>
              <a:xfrm>
                <a:off x="4795170"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0" name="Rectangle 49">
                <a:extLst>
                  <a:ext uri="{FF2B5EF4-FFF2-40B4-BE49-F238E27FC236}">
                    <a16:creationId xmlns:a16="http://schemas.microsoft.com/office/drawing/2014/main" id="{929AEAA5-7A30-DE1D-1041-15C45432349C}"/>
                  </a:ext>
                </a:extLst>
              </p:cNvPr>
              <p:cNvSpPr/>
              <p:nvPr/>
            </p:nvSpPr>
            <p:spPr>
              <a:xfrm>
                <a:off x="4175571" y="3274554"/>
                <a:ext cx="104400" cy="360040"/>
              </a:xfrm>
              <a:prstGeom prst="rect">
                <a:avLst/>
              </a:prstGeom>
              <a:gradFill flip="none" rotWithShape="1">
                <a:gsLst>
                  <a:gs pos="61000">
                    <a:schemeClr val="bg1">
                      <a:lumMod val="95000"/>
                    </a:schemeClr>
                  </a:gs>
                  <a:gs pos="32000">
                    <a:schemeClr val="bg1"/>
                  </a:gs>
                  <a:gs pos="0">
                    <a:schemeClr val="bg1">
                      <a:lumMod val="50000"/>
                    </a:schemeClr>
                  </a:gs>
                  <a:gs pos="100000">
                    <a:schemeClr val="bg1">
                      <a:lumMod val="50000"/>
                    </a:schemeClr>
                  </a:gs>
                </a:gsLst>
                <a:lin ang="0" scaled="1"/>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1" name="Freeform 50">
                <a:extLst>
                  <a:ext uri="{FF2B5EF4-FFF2-40B4-BE49-F238E27FC236}">
                    <a16:creationId xmlns:a16="http://schemas.microsoft.com/office/drawing/2014/main" id="{7E2A3E32-4281-30FF-7D4B-7920BC01B281}"/>
                  </a:ext>
                </a:extLst>
              </p:cNvPr>
              <p:cNvSpPr>
                <a:spLocks/>
              </p:cNvSpPr>
              <p:nvPr/>
            </p:nvSpPr>
            <p:spPr bwMode="auto">
              <a:xfrm>
                <a:off x="4108450" y="3062288"/>
                <a:ext cx="858838" cy="142875"/>
              </a:xfrm>
              <a:custGeom>
                <a:avLst/>
                <a:gdLst>
                  <a:gd name="T0" fmla="*/ 0 w 1125"/>
                  <a:gd name="T1" fmla="*/ 187 h 187"/>
                  <a:gd name="T2" fmla="*/ 563 w 1125"/>
                  <a:gd name="T3" fmla="*/ 0 h 187"/>
                  <a:gd name="T4" fmla="*/ 1125 w 1125"/>
                  <a:gd name="T5" fmla="*/ 187 h 187"/>
                </a:gdLst>
                <a:ahLst/>
                <a:cxnLst>
                  <a:cxn ang="0">
                    <a:pos x="T0" y="T1"/>
                  </a:cxn>
                  <a:cxn ang="0">
                    <a:pos x="T2" y="T3"/>
                  </a:cxn>
                  <a:cxn ang="0">
                    <a:pos x="T4" y="T5"/>
                  </a:cxn>
                </a:cxnLst>
                <a:rect l="0" t="0" r="r" b="b"/>
                <a:pathLst>
                  <a:path w="1125" h="187">
                    <a:moveTo>
                      <a:pt x="0" y="187"/>
                    </a:moveTo>
                    <a:lnTo>
                      <a:pt x="563" y="0"/>
                    </a:lnTo>
                    <a:lnTo>
                      <a:pt x="1125" y="187"/>
                    </a:lnTo>
                  </a:path>
                </a:pathLst>
              </a:custGeom>
              <a:solidFill>
                <a:srgbClr val="E0E0E0"/>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4" name="Freeform 53">
                <a:extLst>
                  <a:ext uri="{FF2B5EF4-FFF2-40B4-BE49-F238E27FC236}">
                    <a16:creationId xmlns:a16="http://schemas.microsoft.com/office/drawing/2014/main" id="{1087E552-176F-E1DA-990D-EF7B5FDFCEA7}"/>
                  </a:ext>
                </a:extLst>
              </p:cNvPr>
              <p:cNvSpPr>
                <a:spLocks/>
              </p:cNvSpPr>
              <p:nvPr/>
            </p:nvSpPr>
            <p:spPr bwMode="auto">
              <a:xfrm>
                <a:off x="4108450" y="3062288"/>
                <a:ext cx="858838" cy="142875"/>
              </a:xfrm>
              <a:custGeom>
                <a:avLst/>
                <a:gdLst>
                  <a:gd name="T0" fmla="*/ 0 w 1125"/>
                  <a:gd name="T1" fmla="*/ 187 h 187"/>
                  <a:gd name="T2" fmla="*/ 563 w 1125"/>
                  <a:gd name="T3" fmla="*/ 0 h 187"/>
                  <a:gd name="T4" fmla="*/ 1125 w 1125"/>
                  <a:gd name="T5" fmla="*/ 187 h 187"/>
                </a:gdLst>
                <a:ahLst/>
                <a:cxnLst>
                  <a:cxn ang="0">
                    <a:pos x="T0" y="T1"/>
                  </a:cxn>
                  <a:cxn ang="0">
                    <a:pos x="T2" y="T3"/>
                  </a:cxn>
                  <a:cxn ang="0">
                    <a:pos x="T4" y="T5"/>
                  </a:cxn>
                </a:cxnLst>
                <a:rect l="0" t="0" r="r" b="b"/>
                <a:pathLst>
                  <a:path w="1125" h="187">
                    <a:moveTo>
                      <a:pt x="0" y="187"/>
                    </a:moveTo>
                    <a:lnTo>
                      <a:pt x="563" y="0"/>
                    </a:lnTo>
                    <a:lnTo>
                      <a:pt x="1125" y="187"/>
                    </a:lnTo>
                  </a:path>
                </a:pathLst>
              </a:custGeom>
              <a:noFill/>
              <a:ln w="9525" cap="rnd">
                <a:solidFill>
                  <a:srgbClr val="40404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dirty="0"/>
              </a:p>
            </p:txBody>
          </p:sp>
          <p:sp>
            <p:nvSpPr>
              <p:cNvPr id="55" name="Rectangle 54">
                <a:extLst>
                  <a:ext uri="{FF2B5EF4-FFF2-40B4-BE49-F238E27FC236}">
                    <a16:creationId xmlns:a16="http://schemas.microsoft.com/office/drawing/2014/main" id="{2FB30C10-22AB-2ECE-7686-5D83E8DAEC21}"/>
                  </a:ext>
                </a:extLst>
              </p:cNvPr>
              <p:cNvSpPr>
                <a:spLocks noChangeArrowheads="1"/>
              </p:cNvSpPr>
              <p:nvPr/>
            </p:nvSpPr>
            <p:spPr bwMode="auto">
              <a:xfrm>
                <a:off x="4108450" y="3209926"/>
                <a:ext cx="858838" cy="952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6" name="Rectangle 55">
                <a:extLst>
                  <a:ext uri="{FF2B5EF4-FFF2-40B4-BE49-F238E27FC236}">
                    <a16:creationId xmlns:a16="http://schemas.microsoft.com/office/drawing/2014/main" id="{D945C6D8-E585-029C-6EFB-622CEC388BD1}"/>
                  </a:ext>
                </a:extLst>
              </p:cNvPr>
              <p:cNvSpPr>
                <a:spLocks noChangeArrowheads="1"/>
              </p:cNvSpPr>
              <p:nvPr/>
            </p:nvSpPr>
            <p:spPr bwMode="auto">
              <a:xfrm>
                <a:off x="4060825" y="3673476"/>
                <a:ext cx="954088" cy="571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sp>
            <p:nvSpPr>
              <p:cNvPr id="57" name="Rectangle 56">
                <a:extLst>
                  <a:ext uri="{FF2B5EF4-FFF2-40B4-BE49-F238E27FC236}">
                    <a16:creationId xmlns:a16="http://schemas.microsoft.com/office/drawing/2014/main" id="{E9708032-AFD1-0BE9-2375-6D7BBC82967F}"/>
                  </a:ext>
                </a:extLst>
              </p:cNvPr>
              <p:cNvSpPr>
                <a:spLocks noChangeArrowheads="1"/>
              </p:cNvSpPr>
              <p:nvPr/>
            </p:nvSpPr>
            <p:spPr bwMode="auto">
              <a:xfrm>
                <a:off x="4108450" y="3616326"/>
                <a:ext cx="858838" cy="57150"/>
              </a:xfrm>
              <a:prstGeom prst="rect">
                <a:avLst/>
              </a:prstGeom>
              <a:solidFill>
                <a:srgbClr val="F2F2F2"/>
              </a:solidFill>
              <a:ln w="9525" cap="flat">
                <a:solidFill>
                  <a:srgbClr val="404040"/>
                </a:solidFill>
                <a:prstDash val="solid"/>
                <a:miter lim="800000"/>
                <a:headEnd/>
                <a:tailEnd/>
              </a:ln>
            </p:spPr>
            <p:txBody>
              <a:bodyPr vert="horz" wrap="square" lIns="68580" tIns="34290" rIns="68580" bIns="34290" numCol="1" anchor="t" anchorCtr="0" compatLnSpc="1">
                <a:prstTxWarp prst="textNoShape">
                  <a:avLst/>
                </a:prstTxWarp>
              </a:bodyPr>
              <a:lstStyle/>
              <a:p>
                <a:endParaRPr lang="en-US" sz="1350" dirty="0"/>
              </a:p>
            </p:txBody>
          </p:sp>
        </p:grpSp>
      </p:grpSp>
      <p:sp>
        <p:nvSpPr>
          <p:cNvPr id="59" name="TextBox 58">
            <a:extLst>
              <a:ext uri="{FF2B5EF4-FFF2-40B4-BE49-F238E27FC236}">
                <a16:creationId xmlns:a16="http://schemas.microsoft.com/office/drawing/2014/main" id="{828A6FDB-4CE7-3452-EAF0-7EAD913C3197}"/>
              </a:ext>
            </a:extLst>
          </p:cNvPr>
          <p:cNvSpPr txBox="1"/>
          <p:nvPr/>
        </p:nvSpPr>
        <p:spPr>
          <a:xfrm>
            <a:off x="2662498" y="844506"/>
            <a:ext cx="1180131" cy="323165"/>
          </a:xfrm>
          <a:prstGeom prst="rect">
            <a:avLst/>
          </a:prstGeom>
          <a:noFill/>
        </p:spPr>
        <p:txBody>
          <a:bodyPr wrap="none" rtlCol="0">
            <a:spAutoFit/>
          </a:bodyPr>
          <a:lstStyle/>
          <a:p>
            <a:pPr algn="ctr"/>
            <a:r>
              <a:rPr lang="en-US" sz="1500" dirty="0">
                <a:latin typeface="Arial" panose="020B0604020202020204" pitchFamily="34" charset="0"/>
                <a:cs typeface="Arial" panose="020B0604020202020204" pitchFamily="34" charset="0"/>
              </a:rPr>
              <a:t>Payer Bank</a:t>
            </a:r>
          </a:p>
        </p:txBody>
      </p:sp>
      <p:sp>
        <p:nvSpPr>
          <p:cNvPr id="60" name="TextBox 59">
            <a:extLst>
              <a:ext uri="{FF2B5EF4-FFF2-40B4-BE49-F238E27FC236}">
                <a16:creationId xmlns:a16="http://schemas.microsoft.com/office/drawing/2014/main" id="{5A8DF5A1-066E-A9C3-EAF9-D40FA4C48AA8}"/>
              </a:ext>
            </a:extLst>
          </p:cNvPr>
          <p:cNvSpPr txBox="1"/>
          <p:nvPr/>
        </p:nvSpPr>
        <p:spPr>
          <a:xfrm>
            <a:off x="840560" y="2036623"/>
            <a:ext cx="1360629" cy="230832"/>
          </a:xfrm>
          <a:prstGeom prst="rect">
            <a:avLst/>
          </a:prstGeom>
          <a:solidFill>
            <a:schemeClr val="bg1"/>
          </a:solidFill>
          <a:ln>
            <a:solidFill>
              <a:schemeClr val="bg1">
                <a:lumMod val="50000"/>
              </a:schemeClr>
            </a:solidFill>
          </a:ln>
        </p:spPr>
        <p:txBody>
          <a:bodyPr wrap="none" tIns="18288" bIns="27432" rtlCol="0">
            <a:spAutoFit/>
          </a:bodyPr>
          <a:lstStyle/>
          <a:p>
            <a:pPr algn="ctr"/>
            <a:r>
              <a:rPr lang="en-US" sz="1200" dirty="0"/>
              <a:t>Step 1-5 “as usual”</a:t>
            </a:r>
          </a:p>
        </p:txBody>
      </p:sp>
      <p:cxnSp>
        <p:nvCxnSpPr>
          <p:cNvPr id="10" name="Straight Connector 9">
            <a:extLst>
              <a:ext uri="{FF2B5EF4-FFF2-40B4-BE49-F238E27FC236}">
                <a16:creationId xmlns:a16="http://schemas.microsoft.com/office/drawing/2014/main" id="{2937E01C-BFC7-DBC0-832A-D7074E39329A}"/>
              </a:ext>
            </a:extLst>
          </p:cNvPr>
          <p:cNvCxnSpPr>
            <a:cxnSpLocks/>
          </p:cNvCxnSpPr>
          <p:nvPr/>
        </p:nvCxnSpPr>
        <p:spPr>
          <a:xfrm>
            <a:off x="7241895" y="1553323"/>
            <a:ext cx="0" cy="198424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FFBE5207-2E71-A285-4916-0B04BA30D932}"/>
              </a:ext>
            </a:extLst>
          </p:cNvPr>
          <p:cNvSpPr>
            <a:spLocks/>
          </p:cNvSpPr>
          <p:nvPr/>
        </p:nvSpPr>
        <p:spPr>
          <a:xfrm>
            <a:off x="7130609" y="3142147"/>
            <a:ext cx="219456" cy="21945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45720" tIns="0" rIns="45720" bIns="0" rtlCol="0" anchor="ctr">
            <a:noAutofit/>
          </a:bodyPr>
          <a:lstStyle/>
          <a:p>
            <a:pPr algn="ctr"/>
            <a:r>
              <a:rPr lang="en-US" sz="1200" dirty="0">
                <a:solidFill>
                  <a:schemeClr val="tx1"/>
                </a:solidFill>
              </a:rPr>
              <a:t>8</a:t>
            </a:r>
          </a:p>
        </p:txBody>
      </p:sp>
      <p:sp>
        <p:nvSpPr>
          <p:cNvPr id="61" name="Oval 60">
            <a:extLst>
              <a:ext uri="{FF2B5EF4-FFF2-40B4-BE49-F238E27FC236}">
                <a16:creationId xmlns:a16="http://schemas.microsoft.com/office/drawing/2014/main" id="{9F53137B-3254-D35F-BC29-C8F2ED70CD22}"/>
              </a:ext>
            </a:extLst>
          </p:cNvPr>
          <p:cNvSpPr/>
          <p:nvPr/>
        </p:nvSpPr>
        <p:spPr>
          <a:xfrm>
            <a:off x="7042617" y="1423570"/>
            <a:ext cx="404452" cy="259675"/>
          </a:xfrm>
          <a:prstGeom prst="ellipse">
            <a:avLst/>
          </a:prstGeom>
          <a:gradFill flip="none" rotWithShape="1">
            <a:gsLst>
              <a:gs pos="0">
                <a:schemeClr val="accent1">
                  <a:lumMod val="0"/>
                  <a:lumOff val="100000"/>
                </a:schemeClr>
              </a:gs>
              <a:gs pos="17000">
                <a:schemeClr val="accent1">
                  <a:lumMod val="0"/>
                  <a:lumOff val="100000"/>
                </a:schemeClr>
              </a:gs>
              <a:gs pos="100000">
                <a:schemeClr val="accent1">
                  <a:lumMod val="60000"/>
                  <a:lumOff val="40000"/>
                </a:schemeClr>
              </a:gs>
            </a:gsLst>
            <a:path path="circle">
              <a:fillToRect l="50000" t="50000" r="50000" b="50000"/>
            </a:path>
            <a:tileRect/>
          </a:gradFill>
          <a:ln w="6350"/>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sz="1200" dirty="0">
                <a:solidFill>
                  <a:schemeClr val="tx1"/>
                </a:solidFill>
              </a:rPr>
              <a:t>TS</a:t>
            </a:r>
          </a:p>
        </p:txBody>
      </p:sp>
      <p:sp>
        <p:nvSpPr>
          <p:cNvPr id="64" name="TextBox 63">
            <a:extLst>
              <a:ext uri="{FF2B5EF4-FFF2-40B4-BE49-F238E27FC236}">
                <a16:creationId xmlns:a16="http://schemas.microsoft.com/office/drawing/2014/main" id="{9A7586A0-EEC5-04B8-1C1E-2F161FC16120}"/>
              </a:ext>
            </a:extLst>
          </p:cNvPr>
          <p:cNvSpPr txBox="1"/>
          <p:nvPr/>
        </p:nvSpPr>
        <p:spPr>
          <a:xfrm>
            <a:off x="4443166" y="1076205"/>
            <a:ext cx="2270115" cy="1384995"/>
          </a:xfrm>
          <a:prstGeom prst="wedgeRectCallout">
            <a:avLst>
              <a:gd name="adj1" fmla="val 64138"/>
              <a:gd name="adj2" fmla="val -15120"/>
            </a:avLst>
          </a:prstGeom>
          <a:noFill/>
          <a:ln>
            <a:solidFill>
              <a:schemeClr val="bg1">
                <a:lumMod val="50000"/>
              </a:schemeClr>
            </a:solidFill>
          </a:ln>
        </p:spPr>
        <p:txBody>
          <a:bodyPr wrap="square" rtlCol="0">
            <a:spAutoFit/>
          </a:bodyPr>
          <a:lstStyle/>
          <a:p>
            <a:r>
              <a:rPr lang="en-US" sz="1200" dirty="0"/>
              <a:t>Public Trust Service (TS) holding core Merchant data including:</a:t>
            </a:r>
          </a:p>
          <a:p>
            <a:pPr marL="171450" indent="-171450">
              <a:buFont typeface="Arial" panose="020B0604020202020204" pitchFamily="34" charset="0"/>
              <a:buChar char="•"/>
            </a:pPr>
            <a:r>
              <a:rPr lang="en-US" sz="1200" dirty="0"/>
              <a:t>Signature key</a:t>
            </a:r>
          </a:p>
          <a:p>
            <a:pPr marL="171450" indent="-171450">
              <a:buFont typeface="Arial" panose="020B0604020202020204" pitchFamily="34" charset="0"/>
              <a:buChar char="•"/>
            </a:pPr>
            <a:r>
              <a:rPr lang="en-US" sz="1200" dirty="0"/>
              <a:t>Receiver account</a:t>
            </a:r>
          </a:p>
          <a:p>
            <a:pPr marL="171450" indent="-171450">
              <a:buFont typeface="Arial" panose="020B0604020202020204" pitchFamily="34" charset="0"/>
              <a:buChar char="•"/>
            </a:pPr>
            <a:r>
              <a:rPr lang="en-US" sz="1200" dirty="0"/>
              <a:t>Common name</a:t>
            </a:r>
          </a:p>
          <a:p>
            <a:pPr marL="171450" indent="-171450">
              <a:buFont typeface="Arial" panose="020B0604020202020204" pitchFamily="34" charset="0"/>
              <a:buChar char="•"/>
            </a:pPr>
            <a:r>
              <a:rPr lang="en-US" sz="1200" dirty="0"/>
              <a:t>URL</a:t>
            </a:r>
          </a:p>
          <a:p>
            <a:pPr marL="171450" indent="-171450">
              <a:buFont typeface="Arial" panose="020B0604020202020204" pitchFamily="34" charset="0"/>
              <a:buChar char="•"/>
            </a:pPr>
            <a:r>
              <a:rPr lang="en-US" sz="1200" dirty="0"/>
              <a:t>Etc.</a:t>
            </a:r>
          </a:p>
        </p:txBody>
      </p:sp>
      <p:sp>
        <p:nvSpPr>
          <p:cNvPr id="84" name="TextBox 83">
            <a:extLst>
              <a:ext uri="{FF2B5EF4-FFF2-40B4-BE49-F238E27FC236}">
                <a16:creationId xmlns:a16="http://schemas.microsoft.com/office/drawing/2014/main" id="{A82058C0-467B-F29A-8936-ECDFF10B81C9}"/>
              </a:ext>
            </a:extLst>
          </p:cNvPr>
          <p:cNvSpPr txBox="1"/>
          <p:nvPr/>
        </p:nvSpPr>
        <p:spPr>
          <a:xfrm>
            <a:off x="702597" y="4731830"/>
            <a:ext cx="1645964" cy="230832"/>
          </a:xfrm>
          <a:prstGeom prst="rect">
            <a:avLst/>
          </a:prstGeom>
          <a:solidFill>
            <a:schemeClr val="bg1"/>
          </a:solidFill>
          <a:ln>
            <a:solidFill>
              <a:schemeClr val="bg1">
                <a:lumMod val="50000"/>
              </a:schemeClr>
            </a:solidFill>
          </a:ln>
        </p:spPr>
        <p:txBody>
          <a:bodyPr wrap="none" tIns="18288" bIns="27432" rtlCol="0">
            <a:spAutoFit/>
          </a:bodyPr>
          <a:lstStyle/>
          <a:p>
            <a:pPr algn="ctr"/>
            <a:r>
              <a:rPr lang="en-US" sz="1200" dirty="0"/>
              <a:t>Step 10 &amp; 11 “as usual”</a:t>
            </a:r>
          </a:p>
        </p:txBody>
      </p:sp>
      <p:sp>
        <p:nvSpPr>
          <p:cNvPr id="8" name="TextBox 7">
            <a:extLst>
              <a:ext uri="{FF2B5EF4-FFF2-40B4-BE49-F238E27FC236}">
                <a16:creationId xmlns:a16="http://schemas.microsoft.com/office/drawing/2014/main" id="{2758882D-1949-3707-D076-96B2E3204622}"/>
              </a:ext>
            </a:extLst>
          </p:cNvPr>
          <p:cNvSpPr txBox="1"/>
          <p:nvPr/>
        </p:nvSpPr>
        <p:spPr>
          <a:xfrm>
            <a:off x="1453070" y="220180"/>
            <a:ext cx="6313780" cy="461665"/>
          </a:xfrm>
          <a:prstGeom prst="rect">
            <a:avLst/>
          </a:prstGeom>
          <a:noFill/>
        </p:spPr>
        <p:txBody>
          <a:bodyPr wrap="none" rtlCol="0">
            <a:spAutoFit/>
          </a:bodyPr>
          <a:lstStyle/>
          <a:p>
            <a:pPr algn="l"/>
            <a:r>
              <a:rPr lang="en-US" sz="2400" dirty="0"/>
              <a:t>Disruptive Approach – Eliminating Intermediaries</a:t>
            </a:r>
          </a:p>
        </p:txBody>
      </p:sp>
      <p:sp>
        <p:nvSpPr>
          <p:cNvPr id="9" name="TextBox 8">
            <a:extLst>
              <a:ext uri="{FF2B5EF4-FFF2-40B4-BE49-F238E27FC236}">
                <a16:creationId xmlns:a16="http://schemas.microsoft.com/office/drawing/2014/main" id="{0C1B04DF-50C5-2D39-8F79-1B449FE02672}"/>
              </a:ext>
            </a:extLst>
          </p:cNvPr>
          <p:cNvSpPr txBox="1"/>
          <p:nvPr/>
        </p:nvSpPr>
        <p:spPr>
          <a:xfrm>
            <a:off x="1083609" y="5443185"/>
            <a:ext cx="4863581" cy="923330"/>
          </a:xfrm>
          <a:prstGeom prst="rect">
            <a:avLst/>
          </a:prstGeom>
          <a:solidFill>
            <a:schemeClr val="bg1"/>
          </a:solidFill>
          <a:ln w="12700" cmpd="sng">
            <a:solidFill>
              <a:schemeClr val="accent1">
                <a:shade val="15000"/>
              </a:schemeClr>
            </a:solidFill>
          </a:ln>
          <a:effectLst>
            <a:outerShdw blurRad="50800" dist="38100" dir="2700000" algn="tl" rotWithShape="0">
              <a:prstClr val="black">
                <a:alpha val="40000"/>
              </a:prstClr>
            </a:outerShdw>
          </a:effectLst>
        </p:spPr>
        <p:txBody>
          <a:bodyPr wrap="square" lIns="182880" tIns="91440" rIns="182880" bIns="91440" rtlCol="0">
            <a:spAutoFit/>
          </a:bodyPr>
          <a:lstStyle/>
          <a:p>
            <a:pPr algn="l"/>
            <a:r>
              <a:rPr lang="en-US" sz="1200" dirty="0">
                <a:cs typeface="Arial" panose="020B0604020202020204" pitchFamily="34" charset="0"/>
              </a:rPr>
              <a:t>The advantages of a </a:t>
            </a:r>
            <a:r>
              <a:rPr lang="en-US" sz="1200" i="1" dirty="0">
                <a:cs typeface="Arial" panose="020B0604020202020204" pitchFamily="34" charset="0"/>
              </a:rPr>
              <a:t>decentralized</a:t>
            </a:r>
            <a:r>
              <a:rPr lang="en-US" sz="1200" dirty="0">
                <a:cs typeface="Arial" panose="020B0604020202020204" pitchFamily="34" charset="0"/>
              </a:rPr>
              <a:t> authorization scheme include:</a:t>
            </a:r>
          </a:p>
          <a:p>
            <a:pPr marL="173736" indent="-173736">
              <a:buFont typeface="Wingdings" panose="05000000000000000000" pitchFamily="2" charset="2"/>
              <a:buChar char=""/>
            </a:pPr>
            <a:r>
              <a:rPr lang="en-US" sz="1200" dirty="0">
                <a:solidFill>
                  <a:schemeClr val="tx1"/>
                </a:solidFill>
                <a:cs typeface="Arial" panose="020B0604020202020204" pitchFamily="34" charset="0"/>
              </a:rPr>
              <a:t>True 4-corner model </a:t>
            </a:r>
            <a:r>
              <a:rPr lang="en-US" sz="1200" b="1" dirty="0">
                <a:solidFill>
                  <a:schemeClr val="tx1"/>
                </a:solidFill>
                <a:latin typeface="Arial" panose="020B0604020202020204" pitchFamily="34" charset="0"/>
                <a:cs typeface="Arial" panose="020B0604020202020204" pitchFamily="34" charset="0"/>
                <a:sym typeface="Wingdings" panose="05000000000000000000" pitchFamily="2" charset="2"/>
              </a:rPr>
              <a:t></a:t>
            </a:r>
            <a:r>
              <a:rPr lang="en-US" sz="12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200" dirty="0">
                <a:solidFill>
                  <a:schemeClr val="tx1"/>
                </a:solidFill>
                <a:cs typeface="Arial" panose="020B0604020202020204" pitchFamily="34" charset="0"/>
                <a:sym typeface="Wingdings" panose="05000000000000000000" pitchFamily="2" charset="2"/>
              </a:rPr>
              <a:t>Optimal business model for A2A transactions</a:t>
            </a:r>
            <a:endParaRPr lang="en-US" sz="1200" dirty="0">
              <a:solidFill>
                <a:schemeClr val="tx1"/>
              </a:solidFill>
              <a:cs typeface="Arial" panose="020B0604020202020204" pitchFamily="34" charset="0"/>
            </a:endParaRPr>
          </a:p>
          <a:p>
            <a:pPr marL="173736" indent="-173736" algn="l" defTabSz="274320">
              <a:buFont typeface="Arial" panose="020B0604020202020204" pitchFamily="34" charset="0"/>
              <a:buChar char="•"/>
            </a:pPr>
            <a:r>
              <a:rPr lang="en-US" sz="1200" dirty="0">
                <a:cs typeface="Arial" panose="020B0604020202020204" pitchFamily="34" charset="0"/>
              </a:rPr>
              <a:t>Unlimited scalability</a:t>
            </a:r>
          </a:p>
          <a:p>
            <a:pPr marL="173736" indent="-173736" algn="l" defTabSz="274320">
              <a:buFont typeface="Arial" panose="020B0604020202020204" pitchFamily="34" charset="0"/>
              <a:buChar char="•"/>
            </a:pPr>
            <a:r>
              <a:rPr lang="en-US" sz="1200" dirty="0">
                <a:cs typeface="Arial" panose="020B0604020202020204" pitchFamily="34" charset="0"/>
              </a:rPr>
              <a:t>No single point of failure</a:t>
            </a:r>
          </a:p>
        </p:txBody>
      </p:sp>
      <p:sp>
        <p:nvSpPr>
          <p:cNvPr id="11" name="TextBox 10">
            <a:extLst>
              <a:ext uri="{FF2B5EF4-FFF2-40B4-BE49-F238E27FC236}">
                <a16:creationId xmlns:a16="http://schemas.microsoft.com/office/drawing/2014/main" id="{543AAF63-055E-B77A-E8D6-B610CD504FDE}"/>
              </a:ext>
            </a:extLst>
          </p:cNvPr>
          <p:cNvSpPr txBox="1"/>
          <p:nvPr/>
        </p:nvSpPr>
        <p:spPr>
          <a:xfrm>
            <a:off x="2416186" y="3135383"/>
            <a:ext cx="829073" cy="249299"/>
          </a:xfrm>
          <a:prstGeom prst="rect">
            <a:avLst/>
          </a:prstGeom>
          <a:noFill/>
          <a:ln>
            <a:noFill/>
          </a:ln>
        </p:spPr>
        <p:txBody>
          <a:bodyPr wrap="none" tIns="18288" bIns="45720" rtlCol="0">
            <a:spAutoFit/>
          </a:bodyPr>
          <a:lstStyle/>
          <a:p>
            <a:pPr algn="r"/>
            <a:r>
              <a:rPr lang="en-US" sz="1200" dirty="0"/>
              <a:t>Cacheable</a:t>
            </a:r>
          </a:p>
        </p:txBody>
      </p:sp>
      <p:sp>
        <p:nvSpPr>
          <p:cNvPr id="27" name="Left-Right Arrow 26">
            <a:extLst>
              <a:ext uri="{FF2B5EF4-FFF2-40B4-BE49-F238E27FC236}">
                <a16:creationId xmlns:a16="http://schemas.microsoft.com/office/drawing/2014/main" id="{D2FDE2F5-B53B-F9D7-D99F-FBF596BBFDD1}"/>
              </a:ext>
            </a:extLst>
          </p:cNvPr>
          <p:cNvSpPr/>
          <p:nvPr/>
        </p:nvSpPr>
        <p:spPr>
          <a:xfrm>
            <a:off x="3252563" y="3750357"/>
            <a:ext cx="4443984" cy="155448"/>
          </a:xfrm>
          <a:prstGeom prst="leftRightArrow">
            <a:avLst/>
          </a:prstGeom>
          <a:gradFill flip="none" rotWithShape="1">
            <a:gsLst>
              <a:gs pos="0">
                <a:schemeClr val="accent2"/>
              </a:gs>
              <a:gs pos="48000">
                <a:schemeClr val="accent2">
                  <a:lumMod val="20000"/>
                  <a:lumOff val="80000"/>
                </a:schemeClr>
              </a:gs>
              <a:gs pos="100000">
                <a:schemeClr val="accent2">
                  <a:lumMod val="100000"/>
                </a:schemeClr>
              </a:gs>
            </a:gsLst>
            <a:lin ang="5400000" scaled="0"/>
            <a:tileRect/>
          </a:gra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loud Callout 27">
            <a:extLst>
              <a:ext uri="{FF2B5EF4-FFF2-40B4-BE49-F238E27FC236}">
                <a16:creationId xmlns:a16="http://schemas.microsoft.com/office/drawing/2014/main" id="{5A39CFC6-3FB6-6633-4007-10C35AC40274}"/>
              </a:ext>
            </a:extLst>
          </p:cNvPr>
          <p:cNvSpPr/>
          <p:nvPr/>
        </p:nvSpPr>
        <p:spPr>
          <a:xfrm>
            <a:off x="4666547" y="3524285"/>
            <a:ext cx="1320918" cy="614034"/>
          </a:xfrm>
          <a:prstGeom prst="cloudCallout">
            <a:avLst>
              <a:gd name="adj1" fmla="val 94099"/>
              <a:gd name="adj2" fmla="val 107325"/>
            </a:avLst>
          </a:prstGeom>
          <a:solidFill>
            <a:schemeClr val="bg1">
              <a:lumMod val="95000"/>
            </a:schemeClr>
          </a:solidFill>
          <a:ln w="9525">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  Transaction</a:t>
            </a:r>
            <a:br>
              <a:rPr lang="en-US" sz="1200" dirty="0">
                <a:solidFill>
                  <a:schemeClr val="tx1"/>
                </a:solidFill>
              </a:rPr>
            </a:br>
            <a:r>
              <a:rPr lang="en-US" sz="1200" dirty="0">
                <a:solidFill>
                  <a:schemeClr val="tx1"/>
                </a:solidFill>
              </a:rPr>
              <a:t>   Network</a:t>
            </a:r>
          </a:p>
        </p:txBody>
      </p:sp>
      <p:sp>
        <p:nvSpPr>
          <p:cNvPr id="29" name="Rectangle 28">
            <a:extLst>
              <a:ext uri="{FF2B5EF4-FFF2-40B4-BE49-F238E27FC236}">
                <a16:creationId xmlns:a16="http://schemas.microsoft.com/office/drawing/2014/main" id="{9E77E227-AE30-B3B5-B7C3-B26F6F3BF217}"/>
              </a:ext>
            </a:extLst>
          </p:cNvPr>
          <p:cNvSpPr/>
          <p:nvPr/>
        </p:nvSpPr>
        <p:spPr>
          <a:xfrm>
            <a:off x="5897762" y="4125032"/>
            <a:ext cx="778449" cy="544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222067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2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2974</TotalTime>
  <Words>871</Words>
  <Application>Microsoft Macintosh PowerPoint</Application>
  <PresentationFormat>On-screen Show (4:3)</PresentationFormat>
  <Paragraphs>114</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Wingdings</vt:lpstr>
      <vt:lpstr>Custom Design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86</cp:revision>
  <dcterms:created xsi:type="dcterms:W3CDTF">2024-05-09T01:23:11Z</dcterms:created>
  <dcterms:modified xsi:type="dcterms:W3CDTF">2024-05-26T05:02:56Z</dcterms:modified>
</cp:coreProperties>
</file>