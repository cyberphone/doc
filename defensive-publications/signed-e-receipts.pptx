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256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9" autoAdjust="0"/>
    <p:restoredTop sz="94626" autoAdjust="0"/>
  </p:normalViewPr>
  <p:slideViewPr>
    <p:cSldViewPr snapToGrid="0">
      <p:cViewPr varScale="1">
        <p:scale>
          <a:sx n="121" d="100"/>
          <a:sy n="121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C3D9-4551-B54A-FAD2-1D0845B65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C9E7B-018F-D7E8-1C4F-DD99C32E6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DC77-DEA5-34FD-9D48-D82B6AF2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10C33-8A64-F438-067D-F917734F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C0F9E-3B5E-4361-37AC-1236DFE9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2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73A26A-22AA-1D30-A5EA-E1F8A7AD9C92}"/>
              </a:ext>
            </a:extLst>
          </p:cNvPr>
          <p:cNvSpPr txBox="1"/>
          <p:nvPr userDrawn="1"/>
        </p:nvSpPr>
        <p:spPr>
          <a:xfrm>
            <a:off x="7973564" y="6611782"/>
            <a:ext cx="121058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© A. Rundgren 2019-2023</a:t>
            </a:r>
          </a:p>
        </p:txBody>
      </p:sp>
    </p:spTree>
    <p:extLst>
      <p:ext uri="{BB962C8B-B14F-4D97-AF65-F5344CB8AC3E}">
        <p14:creationId xmlns:p14="http://schemas.microsoft.com/office/powerpoint/2010/main" val="56584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1E9E-38DF-AEF6-B011-B7C59C78FC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Cghjjglick</a:t>
            </a:r>
            <a:r>
              <a:rPr lang="en-US" dirty="0"/>
              <a:t>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1383E-D67F-5FBC-D78E-C240E6BFD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DADB5-3DCB-A034-6A05-6BBAE0B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EC7D0-90BB-6881-FAE0-B83F4C23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417F5-67BB-8259-95E0-6471878A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2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63872-F06B-9DEE-35A3-ACDA8F93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4FCB7-B467-DF91-1EAD-4ABE58AD2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D652B-F848-BB7B-D333-00741822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3B0C5-8C88-492D-503D-8C72A1C1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432A-C452-8926-E042-06CF2384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9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6EC4-A495-A3E8-1035-037622B14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61D2-E472-40F2-B0C0-85BC00832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02335-7DFA-DFB1-7245-0F418416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5AA4B-A82F-039C-487C-2A266F7E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3E4F5-56F3-0AF7-792A-02277EAA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E49C1-44F6-C534-1143-F79AB185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D157-8031-DC55-9C48-FA39B9AD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B8853-859F-EDA6-A810-B5B71E065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B3931-FA7F-7FFE-412C-556A63212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7EB03-5F7A-50BD-FABF-32F315769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9D893-082B-9323-A4B5-0A98AC9EC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694920-9975-6293-15A8-EC0DB9D2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D3E75-3937-8CB9-2E93-6972A778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28479-474A-F69E-AF71-99604A89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5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82D8-A362-F793-A743-0614E2CA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AFA36-33C4-DECD-9519-37DD393E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7889A-A154-167A-EC39-D8931C5E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9319F-74F4-964D-5ABD-5AA74404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93814-2792-CF80-FB41-DB8A5F47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3E225-5660-3405-36B7-8C7FE03E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42182-287D-3D88-7997-FEA7947D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0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D966-4B06-8163-79B8-61B756A6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F732-491C-E719-5FA3-F71C3193E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65E4F-91FE-70E4-16EF-3F272378A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C5805-4459-BCD9-16B2-88898ADF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EA4C5-67B6-E0E1-E099-870178C2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667C3-D309-32B4-79F5-859E53C1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13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0D117-8FC4-339F-8B05-E7A8145E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1F9891-308E-F912-48BB-FA5B7C8A9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507D3-C296-A07F-9929-8273501CA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C3C6D-2620-5984-D009-447F9B29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6EF6F-B01B-7B88-27E7-B1DAD771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BF60F-7F4B-BA5E-042B-4BA81ADC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2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A82B-6299-F17D-9749-983985AD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ECD29-85E8-DD60-D3F8-6049D41AD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B4026-4A95-2AF3-4BD7-24F59F7A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3821-DB7C-A374-FBF2-9A97EFA7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E8520-08F4-DE4C-E6BB-91E4858A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27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C1A73C-66C3-27AB-1153-A6EB12133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E3EC5-3669-6AAB-A2DB-189829847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DCDBA-2311-BF2A-0E27-A2984881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0EE82-87F6-CAB2-CBFC-AC4EEB24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CDA75-3B87-21AA-EDF2-322E3926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8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6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34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14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92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83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848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471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009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58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69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74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73A26A-22AA-1D30-A5EA-E1F8A7AD9C92}"/>
              </a:ext>
            </a:extLst>
          </p:cNvPr>
          <p:cNvSpPr txBox="1"/>
          <p:nvPr userDrawn="1"/>
        </p:nvSpPr>
        <p:spPr>
          <a:xfrm>
            <a:off x="8122649" y="6611782"/>
            <a:ext cx="98937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© A. Rundgren 2025</a:t>
            </a:r>
          </a:p>
        </p:txBody>
      </p:sp>
    </p:spTree>
    <p:extLst>
      <p:ext uri="{BB962C8B-B14F-4D97-AF65-F5344CB8AC3E}">
        <p14:creationId xmlns:p14="http://schemas.microsoft.com/office/powerpoint/2010/main" val="129785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4900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28658-B381-531A-93E2-17F510E5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CFF6C-DB68-D158-7B2A-4959A126D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EB520-7CE0-E128-6759-1585618AC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1A15-5766-2103-F45B-2292035CB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E0EA1-345D-545A-4572-4BA821A38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8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C73B5-F36B-4506-8E26-0B0C91D7503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ABBD-9FB1-46B8-8D55-2E71BE37D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8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yberphone.github.io/doc/defensive-publications/e-receipts.pdf" TargetMode="Externa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yberphone.github.io/doc/security/jsf.html" TargetMode="Externa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81B947-9064-1FFB-DC55-1A35C5D36AB7}"/>
              </a:ext>
            </a:extLst>
          </p:cNvPr>
          <p:cNvSpPr txBox="1"/>
          <p:nvPr/>
        </p:nvSpPr>
        <p:spPr>
          <a:xfrm>
            <a:off x="1481588" y="386974"/>
            <a:ext cx="58299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Signed e-Receipts – Invention Disclosure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BD462-03AD-4D81-49E6-245A73207D82}"/>
              </a:ext>
            </a:extLst>
          </p:cNvPr>
          <p:cNvSpPr txBox="1"/>
          <p:nvPr/>
        </p:nvSpPr>
        <p:spPr>
          <a:xfrm>
            <a:off x="263565" y="1214825"/>
            <a:ext cx="716212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ym typeface="Wingdings" panose="05000000000000000000" pitchFamily="2" charset="2"/>
              </a:rPr>
              <a:t>This document is based on the e-receipt distribution model outlined in:</a:t>
            </a:r>
          </a:p>
          <a:p>
            <a:r>
              <a:rPr lang="en-US" sz="1350" dirty="0">
                <a:hlinkClick r:id="rId2"/>
              </a:rPr>
              <a:t>https://cyberphone.github.io/doc/defensive-publications/e-receipts.pdf</a:t>
            </a:r>
            <a:endParaRPr lang="en-US" sz="13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B63814-13D5-CC6E-C48A-A69C81042D1B}"/>
              </a:ext>
            </a:extLst>
          </p:cNvPr>
          <p:cNvSpPr/>
          <p:nvPr/>
        </p:nvSpPr>
        <p:spPr>
          <a:xfrm>
            <a:off x="8001610" y="173439"/>
            <a:ext cx="944653" cy="497384"/>
          </a:xfrm>
          <a:prstGeom prst="roundRect">
            <a:avLst>
              <a:gd name="adj" fmla="val 137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This invention is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herby put in the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public domain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D9BCFE-0EC2-5219-A2D1-3BC07BD0DE7B}"/>
              </a:ext>
            </a:extLst>
          </p:cNvPr>
          <p:cNvSpPr txBox="1"/>
          <p:nvPr/>
        </p:nvSpPr>
        <p:spPr>
          <a:xfrm>
            <a:off x="2092602" y="2158356"/>
            <a:ext cx="4607928" cy="10618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Problem Definition</a:t>
            </a:r>
            <a:br>
              <a:rPr lang="en-US" dirty="0"/>
            </a:br>
            <a:endParaRPr lang="en-US" sz="900" dirty="0"/>
          </a:p>
          <a:p>
            <a:r>
              <a:rPr lang="en-US" dirty="0"/>
              <a:t>How do you verify the signature of an e-receipt</a:t>
            </a:r>
            <a:br>
              <a:rPr lang="en-US" dirty="0"/>
            </a:br>
            <a:r>
              <a:rPr lang="en-US" dirty="0"/>
              <a:t>in a world with millions of merchants?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F60FCE-6A85-89EB-7373-638EFA71F2BC}"/>
              </a:ext>
            </a:extLst>
          </p:cNvPr>
          <p:cNvGrpSpPr/>
          <p:nvPr/>
        </p:nvGrpSpPr>
        <p:grpSpPr>
          <a:xfrm>
            <a:off x="1577732" y="4171208"/>
            <a:ext cx="6139892" cy="1754326"/>
            <a:chOff x="282226" y="1764343"/>
            <a:chExt cx="6139892" cy="175432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911B83-E194-CAFD-77F0-5451102369F6}"/>
                </a:ext>
              </a:extLst>
            </p:cNvPr>
            <p:cNvSpPr txBox="1"/>
            <p:nvPr/>
          </p:nvSpPr>
          <p:spPr>
            <a:xfrm>
              <a:off x="282226" y="1764343"/>
              <a:ext cx="5673669" cy="1754326"/>
            </a:xfrm>
            <a:prstGeom prst="rect">
              <a:avLst/>
            </a:prstGeom>
            <a:solidFill>
              <a:srgbClr val="FCFCE8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{</a:t>
              </a:r>
              <a:br>
                <a:rPr lang="en-US" sz="1200" dirty="0"/>
              </a:br>
              <a:r>
                <a:rPr lang="en-US" sz="1200" dirty="0"/>
                <a:t>    "</a:t>
              </a:r>
              <a:r>
                <a:rPr lang="en-US" sz="1200" dirty="0" err="1"/>
                <a:t>paymentRequest</a:t>
              </a:r>
              <a:r>
                <a:rPr lang="en-US" sz="1200" dirty="0"/>
                <a:t>": {</a:t>
              </a:r>
              <a:br>
                <a:rPr lang="en-US" sz="1200" dirty="0"/>
              </a:br>
              <a:r>
                <a:rPr lang="en-US" sz="1200" dirty="0"/>
                <a:t>        "</a:t>
              </a:r>
              <a:r>
                <a:rPr lang="en-US" sz="1200" dirty="0" err="1"/>
                <a:t>commonName</a:t>
              </a:r>
              <a:r>
                <a:rPr lang="en-US" sz="1200" dirty="0"/>
                <a:t>": "Space Shop",</a:t>
              </a:r>
              <a:br>
                <a:rPr lang="en-US" sz="1200" dirty="0"/>
              </a:br>
              <a:r>
                <a:rPr lang="en-US" sz="1200" dirty="0"/>
                <a:t>        "amount": "550.00",</a:t>
              </a:r>
              <a:br>
                <a:rPr lang="en-US" sz="1200" dirty="0"/>
              </a:br>
              <a:r>
                <a:rPr lang="en-US" sz="1200" dirty="0"/>
                <a:t>        "currency": "EUR",</a:t>
              </a:r>
              <a:br>
                <a:rPr lang="en-US" sz="1200" dirty="0"/>
              </a:br>
              <a:r>
                <a:rPr lang="en-US" sz="1200" dirty="0"/>
                <a:t>        "</a:t>
              </a:r>
              <a:r>
                <a:rPr lang="en-US" sz="1200" dirty="0" err="1"/>
                <a:t>referenceId</a:t>
              </a:r>
              <a:r>
                <a:rPr lang="en-US" sz="1200" dirty="0"/>
                <a:t>": "20231007</a:t>
              </a:r>
            </a:p>
            <a:p>
              <a:r>
                <a:rPr lang="en-US" sz="1200" dirty="0"/>
                <a:t>    },</a:t>
              </a:r>
              <a:br>
                <a:rPr lang="en-US" sz="1200" dirty="0"/>
              </a:br>
              <a:r>
                <a:rPr lang="en-US" sz="1200" dirty="0"/>
                <a:t>    "</a:t>
              </a:r>
              <a:r>
                <a:rPr lang="en-US" sz="1200" dirty="0" err="1">
                  <a:solidFill>
                    <a:srgbClr val="C00000"/>
                  </a:solidFill>
                </a:rPr>
                <a:t>receiptUrl</a:t>
              </a:r>
              <a:r>
                <a:rPr lang="en-US" sz="1200" dirty="0"/>
                <a:t>": "</a:t>
              </a:r>
              <a:r>
                <a:rPr lang="en-US" sz="1200" dirty="0">
                  <a:solidFill>
                    <a:schemeClr val="accent1"/>
                  </a:solidFill>
                </a:rPr>
                <a:t>https://spaceshop.com/receipts/20231007j5lOEL2w9cWBFUwkbrFgjQ</a:t>
              </a:r>
              <a:r>
                <a:rPr lang="en-US" sz="1200" dirty="0"/>
                <a:t>"</a:t>
              </a:r>
              <a:br>
                <a:rPr lang="en-US" sz="1200" dirty="0"/>
              </a:br>
              <a:r>
                <a:rPr lang="en-US" sz="1200" dirty="0"/>
                <a:t>}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3A8A5D29-270E-0243-01DD-54F0BA81370C}"/>
                </a:ext>
              </a:extLst>
            </p:cNvPr>
            <p:cNvSpPr/>
            <p:nvPr/>
          </p:nvSpPr>
          <p:spPr>
            <a:xfrm>
              <a:off x="3244957" y="2079607"/>
              <a:ext cx="240214" cy="855641"/>
            </a:xfrm>
            <a:prstGeom prst="rightBrac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E640E07-1C36-8AD0-A5C0-8F80B0A9739B}"/>
                </a:ext>
              </a:extLst>
            </p:cNvPr>
            <p:cNvSpPr txBox="1"/>
            <p:nvPr/>
          </p:nvSpPr>
          <p:spPr>
            <a:xfrm>
              <a:off x="3485171" y="2340644"/>
              <a:ext cx="29369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Non-normative sample request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A1151B0-4011-F9D1-1440-1F642760B862}"/>
              </a:ext>
            </a:extLst>
          </p:cNvPr>
          <p:cNvSpPr txBox="1"/>
          <p:nvPr/>
        </p:nvSpPr>
        <p:spPr>
          <a:xfrm>
            <a:off x="1232671" y="3532561"/>
            <a:ext cx="716212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ym typeface="Wingdings" panose="05000000000000000000" pitchFamily="2" charset="2"/>
              </a:rPr>
              <a:t>Imagine the following payment request taken from the mentioned e-receipt document:</a:t>
            </a:r>
            <a:br>
              <a:rPr lang="en-US" sz="1350" dirty="0">
                <a:sym typeface="Wingdings" panose="05000000000000000000" pitchFamily="2" charset="2"/>
              </a:rPr>
            </a:br>
            <a:r>
              <a:rPr lang="en-US" sz="1350" dirty="0">
                <a:sym typeface="Wingdings" panose="05000000000000000000" pitchFamily="2" charset="2"/>
              </a:rPr>
              <a:t>Space Shop is obviously the issuer of the e-receipt.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A78C89-E405-1C45-525B-B1609D1BDF85}"/>
              </a:ext>
            </a:extLst>
          </p:cNvPr>
          <p:cNvSpPr txBox="1"/>
          <p:nvPr/>
        </p:nvSpPr>
        <p:spPr>
          <a:xfrm>
            <a:off x="2202851" y="6190056"/>
            <a:ext cx="40087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ym typeface="Wingdings" panose="05000000000000000000" pitchFamily="2" charset="2"/>
              </a:rPr>
              <a:t>On the next page you will find a verifiable e-receipt…</a:t>
            </a:r>
          </a:p>
        </p:txBody>
      </p:sp>
    </p:spTree>
    <p:extLst>
      <p:ext uri="{BB962C8B-B14F-4D97-AF65-F5344CB8AC3E}">
        <p14:creationId xmlns:p14="http://schemas.microsoft.com/office/powerpoint/2010/main" val="246390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EAFB-10AC-2423-F055-4A7EE28C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76B53D-5A9D-3F99-6359-DDB81A1D12B8}"/>
              </a:ext>
            </a:extLst>
          </p:cNvPr>
          <p:cNvSpPr txBox="1"/>
          <p:nvPr/>
        </p:nvSpPr>
        <p:spPr>
          <a:xfrm>
            <a:off x="517257" y="1187011"/>
            <a:ext cx="8223752" cy="3416320"/>
          </a:xfrm>
          <a:prstGeom prst="rect">
            <a:avLst/>
          </a:prstGeom>
          <a:solidFill>
            <a:srgbClr val="FCFCE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</a:rPr>
              <a:t>{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"</a:t>
            </a:r>
            <a:r>
              <a:rPr lang="en-US" sz="1200" b="0" i="0" dirty="0" err="1">
                <a:solidFill>
                  <a:srgbClr val="C00000"/>
                </a:solidFill>
                <a:effectLst/>
              </a:rPr>
              <a:t>receiptUrl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https://</a:t>
            </a:r>
            <a:r>
              <a:rPr lang="en-US" sz="1200" b="0" i="0" dirty="0" err="1">
                <a:solidFill>
                  <a:srgbClr val="0000C0"/>
                </a:solidFill>
                <a:effectLst/>
              </a:rPr>
              <a:t>spaceshop.com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/receipts/20231007j5lOEL2w9cWBFUwkbrFgjQ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"</a:t>
            </a:r>
            <a:r>
              <a:rPr lang="en-US" sz="1200" b="0" i="0" dirty="0" err="1">
                <a:solidFill>
                  <a:srgbClr val="C00000"/>
                </a:solidFill>
                <a:effectLst/>
              </a:rPr>
              <a:t>validationKeyUrl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https://</a:t>
            </a:r>
            <a:r>
              <a:rPr lang="en-US" sz="1200" b="0" i="0" dirty="0" err="1">
                <a:solidFill>
                  <a:srgbClr val="0000C0"/>
                </a:solidFill>
                <a:effectLst/>
              </a:rPr>
              <a:t>spaceshop.com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/keys/ed25519-1.jwk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receipt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{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description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A bunch of stuff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amount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550.00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currency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EUR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},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signature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{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algorithm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Ed25519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"</a:t>
            </a:r>
            <a:r>
              <a:rPr lang="en-US" sz="1200" b="0" i="0" dirty="0" err="1">
                <a:solidFill>
                  <a:srgbClr val="C00000"/>
                </a:solidFill>
                <a:effectLst/>
              </a:rPr>
              <a:t>publicKey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{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    "</a:t>
            </a:r>
            <a:r>
              <a:rPr lang="en-US" sz="1200" b="0" i="0" dirty="0" err="1">
                <a:solidFill>
                  <a:srgbClr val="C00000"/>
                </a:solidFill>
                <a:effectLst/>
              </a:rPr>
              <a:t>kty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OKP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    "</a:t>
            </a:r>
            <a:r>
              <a:rPr lang="en-US" sz="1200" b="0" i="0" dirty="0" err="1">
                <a:solidFill>
                  <a:srgbClr val="C00000"/>
                </a:solidFill>
                <a:effectLst/>
              </a:rPr>
              <a:t>crv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Ed25519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x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_kms9bkrbpI1lPLoM2j2gKySS-k89TOuyvgC43dX-Mk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},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    "</a:t>
            </a:r>
            <a:r>
              <a:rPr lang="en-US" sz="1200" b="0" i="0" dirty="0">
                <a:solidFill>
                  <a:srgbClr val="C00000"/>
                </a:solidFill>
                <a:effectLst/>
              </a:rPr>
              <a:t>value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": "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Ap-Rc7GSGPHhnq7.</a:t>
            </a:r>
            <a:r>
              <a:rPr lang="en-US" sz="1200" b="0" i="0" dirty="0">
                <a:solidFill>
                  <a:srgbClr val="000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1200" b="0" i="0" dirty="0">
                <a:solidFill>
                  <a:srgbClr val="0000C0"/>
                </a:solidFill>
                <a:effectLst/>
              </a:rPr>
              <a:t>PyiHT-PeIpzgdjsrE2fOjTuAQ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"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    }</a:t>
            </a:r>
            <a:br>
              <a:rPr lang="en-US" sz="1200" dirty="0"/>
            </a:br>
            <a:r>
              <a:rPr lang="en-US" sz="1200" b="0" i="0" dirty="0">
                <a:solidFill>
                  <a:srgbClr val="000000"/>
                </a:solidFill>
                <a:effectLst/>
              </a:rPr>
              <a:t>}</a:t>
            </a:r>
            <a:endParaRPr lang="en-US" sz="1200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BFB39D4-992D-97F3-6085-A181B5BE8923}"/>
              </a:ext>
            </a:extLst>
          </p:cNvPr>
          <p:cNvSpPr/>
          <p:nvPr/>
        </p:nvSpPr>
        <p:spPr>
          <a:xfrm>
            <a:off x="4004350" y="1884472"/>
            <a:ext cx="187662" cy="800219"/>
          </a:xfrm>
          <a:prstGeom prst="righ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FA320-7104-1D58-4D43-F3A40E4FEEAE}"/>
              </a:ext>
            </a:extLst>
          </p:cNvPr>
          <p:cNvSpPr txBox="1"/>
          <p:nvPr/>
        </p:nvSpPr>
        <p:spPr>
          <a:xfrm>
            <a:off x="4192012" y="2146081"/>
            <a:ext cx="2936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Non-normative sample e-receipt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91CFD-C369-012B-8570-DEDDBCFFFFE7}"/>
              </a:ext>
            </a:extLst>
          </p:cNvPr>
          <p:cNvSpPr txBox="1"/>
          <p:nvPr/>
        </p:nvSpPr>
        <p:spPr>
          <a:xfrm>
            <a:off x="715375" y="4751483"/>
            <a:ext cx="716212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ym typeface="Wingdings" panose="05000000000000000000" pitchFamily="2" charset="2"/>
              </a:rPr>
              <a:t>e-Receipt Validation steps:</a:t>
            </a:r>
          </a:p>
          <a:p>
            <a:pPr marL="102870" indent="-102870" defTabSz="457200">
              <a:buFont typeface="Arial" panose="020B0604020202020204" pitchFamily="34" charset="0"/>
              <a:buChar char="•"/>
            </a:pPr>
            <a:r>
              <a:rPr lang="en-US" sz="1350" dirty="0">
                <a:sym typeface="Wingdings" panose="05000000000000000000" pitchFamily="2" charset="2"/>
              </a:rPr>
              <a:t>Verify that 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</a:t>
            </a:r>
            <a:r>
              <a:rPr lang="en-US" sz="1350" b="0" i="0" dirty="0" err="1">
                <a:solidFill>
                  <a:srgbClr val="C00000"/>
                </a:solidFill>
                <a:effectLst/>
              </a:rPr>
              <a:t>receiptUrl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 is identical to the URL used for fetching the e-receipt </a:t>
            </a:r>
            <a:endParaRPr lang="en-US" sz="1350" dirty="0">
              <a:sym typeface="Wingdings" panose="05000000000000000000" pitchFamily="2" charset="2"/>
            </a:endParaRPr>
          </a:p>
          <a:p>
            <a:pPr marL="102870" indent="-102870" defTabSz="457200">
              <a:buFont typeface="Arial" panose="020B0604020202020204" pitchFamily="34" charset="0"/>
              <a:buChar char="•"/>
            </a:pPr>
            <a:r>
              <a:rPr lang="en-US" sz="1350" dirty="0">
                <a:sym typeface="Wingdings" panose="05000000000000000000" pitchFamily="2" charset="2"/>
              </a:rPr>
              <a:t>Verify that the 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</a:t>
            </a:r>
            <a:r>
              <a:rPr lang="en-US" sz="1350" b="0" i="0" dirty="0" err="1">
                <a:solidFill>
                  <a:srgbClr val="C00000"/>
                </a:solidFill>
                <a:effectLst/>
              </a:rPr>
              <a:t>validationKeyUrl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” has the same host-name as "</a:t>
            </a:r>
            <a:r>
              <a:rPr lang="en-US" sz="1350" b="0" i="0" dirty="0" err="1">
                <a:solidFill>
                  <a:srgbClr val="C00000"/>
                </a:solidFill>
                <a:effectLst/>
              </a:rPr>
              <a:t>receiptUrl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</a:t>
            </a:r>
            <a:endParaRPr lang="en-US" sz="1350" dirty="0">
              <a:sym typeface="Wingdings" panose="05000000000000000000" pitchFamily="2" charset="2"/>
            </a:endParaRPr>
          </a:p>
          <a:p>
            <a:pPr marL="102870" indent="-102870" defTabSz="457200">
              <a:buFont typeface="Arial" panose="020B0604020202020204" pitchFamily="34" charset="0"/>
              <a:buChar char="•"/>
            </a:pPr>
            <a:r>
              <a:rPr lang="en-US" sz="1350" dirty="0">
                <a:sym typeface="Wingdings" panose="05000000000000000000" pitchFamily="2" charset="2"/>
              </a:rPr>
              <a:t>Verify that the signature validates using the </a:t>
            </a:r>
            <a:r>
              <a:rPr lang="en-US" sz="1350" dirty="0">
                <a:solidFill>
                  <a:srgbClr val="000000"/>
                </a:solidFill>
              </a:rPr>
              <a:t>"</a:t>
            </a:r>
            <a:r>
              <a:rPr lang="en-US" sz="1350" dirty="0" err="1">
                <a:solidFill>
                  <a:srgbClr val="C00000"/>
                </a:solidFill>
              </a:rPr>
              <a:t>publicKey</a:t>
            </a:r>
            <a:r>
              <a:rPr lang="en-US" sz="1350" dirty="0">
                <a:solidFill>
                  <a:srgbClr val="000000"/>
                </a:solidFill>
              </a:rPr>
              <a:t>” of the "</a:t>
            </a:r>
            <a:r>
              <a:rPr lang="en-US" sz="1350" dirty="0">
                <a:solidFill>
                  <a:srgbClr val="C00000"/>
                </a:solidFill>
              </a:rPr>
              <a:t>signature</a:t>
            </a:r>
          </a:p>
          <a:p>
            <a:pPr marL="102870" indent="-102870" defTabSz="457200">
              <a:buFont typeface="Arial" panose="020B0604020202020204" pitchFamily="34" charset="0"/>
              <a:buChar char="•"/>
            </a:pPr>
            <a:r>
              <a:rPr lang="en-US" sz="1350" dirty="0">
                <a:sym typeface="Wingdings" panose="05000000000000000000" pitchFamily="2" charset="2"/>
              </a:rPr>
              <a:t>Fetch the key published at 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</a:t>
            </a:r>
            <a:r>
              <a:rPr lang="en-US" sz="1350" b="0" i="0" dirty="0" err="1">
                <a:solidFill>
                  <a:srgbClr val="C00000"/>
                </a:solidFill>
                <a:effectLst/>
              </a:rPr>
              <a:t>validationKeyUrl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” using an HTTP GET and verify that the received key is identica</a:t>
            </a:r>
            <a:r>
              <a:rPr lang="en-US" sz="1350" dirty="0">
                <a:solidFill>
                  <a:srgbClr val="000000"/>
                </a:solidFill>
              </a:rPr>
              <a:t>l to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 the </a:t>
            </a:r>
            <a:r>
              <a:rPr lang="en-US" sz="1350" dirty="0">
                <a:solidFill>
                  <a:srgbClr val="000000"/>
                </a:solidFill>
              </a:rPr>
              <a:t>"</a:t>
            </a:r>
            <a:r>
              <a:rPr lang="en-US" sz="1350" dirty="0" err="1">
                <a:solidFill>
                  <a:srgbClr val="C00000"/>
                </a:solidFill>
              </a:rPr>
              <a:t>publicKey</a:t>
            </a:r>
            <a:r>
              <a:rPr lang="en-US" sz="1350" dirty="0">
                <a:solidFill>
                  <a:srgbClr val="000000"/>
                </a:solidFill>
              </a:rPr>
              <a:t>” of the "</a:t>
            </a:r>
            <a:r>
              <a:rPr lang="en-US" sz="1350" dirty="0">
                <a:solidFill>
                  <a:srgbClr val="C00000"/>
                </a:solidFill>
              </a:rPr>
              <a:t>signature</a:t>
            </a:r>
            <a:endParaRPr lang="en-US" sz="1350" dirty="0">
              <a:solidFill>
                <a:srgbClr val="000000"/>
              </a:solidFill>
            </a:endParaRPr>
          </a:p>
          <a:p>
            <a:pPr defTabSz="457200"/>
            <a:r>
              <a:rPr lang="en-US" sz="1350" dirty="0">
                <a:solidFill>
                  <a:srgbClr val="000000"/>
                </a:solidFill>
                <a:sym typeface="Wingdings" panose="05000000000000000000" pitchFamily="2" charset="2"/>
              </a:rPr>
              <a:t>If all steps succeed, the e-receipt is authentic with respect to the domain </a:t>
            </a:r>
            <a:r>
              <a:rPr lang="en-US" sz="1350" dirty="0" err="1">
                <a:solidFill>
                  <a:srgbClr val="0000C0"/>
                </a:solidFill>
                <a:sym typeface="Wingdings" panose="05000000000000000000" pitchFamily="2" charset="2"/>
              </a:rPr>
              <a:t>spaceshop.com</a:t>
            </a:r>
            <a:r>
              <a:rPr lang="en-US" sz="1350" dirty="0">
                <a:solidFill>
                  <a:srgbClr val="000000"/>
                </a:solidFill>
                <a:sym typeface="Wingdings" panose="05000000000000000000" pitchFamily="2" charset="2"/>
              </a:rPr>
              <a:t>.</a:t>
            </a:r>
            <a:endParaRPr lang="en-US" sz="1350" dirty="0"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84D76-065C-4126-CCFD-BCD1069F9EA7}"/>
              </a:ext>
            </a:extLst>
          </p:cNvPr>
          <p:cNvSpPr txBox="1"/>
          <p:nvPr/>
        </p:nvSpPr>
        <p:spPr>
          <a:xfrm>
            <a:off x="651639" y="6365912"/>
            <a:ext cx="728959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i="1" dirty="0">
                <a:sym typeface="Wingdings" panose="05000000000000000000" pitchFamily="2" charset="2"/>
              </a:rPr>
              <a:t>Note: although the sample uses JSON, the same concept can be applied to any format and signature.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C78F7EE-BFA3-8FFB-5D7C-4FF9A663F2DC}"/>
              </a:ext>
            </a:extLst>
          </p:cNvPr>
          <p:cNvSpPr/>
          <p:nvPr/>
        </p:nvSpPr>
        <p:spPr>
          <a:xfrm>
            <a:off x="4969581" y="2843491"/>
            <a:ext cx="187662" cy="1463040"/>
          </a:xfrm>
          <a:prstGeom prst="righ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BD86E-A1C7-A426-0616-EBFD74D38BEC}"/>
              </a:ext>
            </a:extLst>
          </p:cNvPr>
          <p:cNvSpPr txBox="1"/>
          <p:nvPr/>
        </p:nvSpPr>
        <p:spPr>
          <a:xfrm>
            <a:off x="5192372" y="3344178"/>
            <a:ext cx="343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Non-normative JSON signature </a:t>
            </a:r>
            <a:r>
              <a:rPr lang="en-US" sz="100" dirty="0" err="1"/>
              <a:t>si</a:t>
            </a:r>
            <a:r>
              <a:rPr lang="en-US" sz="1200" dirty="0" err="1"/>
              <a:t>solution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https://cyberphone.github.io/doc/security/jsf.html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CFDF5-FC29-FFF1-C982-9068AC7D9856}"/>
              </a:ext>
            </a:extLst>
          </p:cNvPr>
          <p:cNvSpPr txBox="1"/>
          <p:nvPr/>
        </p:nvSpPr>
        <p:spPr>
          <a:xfrm>
            <a:off x="402992" y="115530"/>
            <a:ext cx="8488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ym typeface="Wingdings" panose="05000000000000000000" pitchFamily="2" charset="2"/>
              </a:rPr>
              <a:t>e-Receipt creation:</a:t>
            </a:r>
          </a:p>
          <a:p>
            <a:r>
              <a:rPr lang="en-US" sz="1350" dirty="0">
                <a:sym typeface="Wingdings" panose="05000000000000000000" pitchFamily="2" charset="2"/>
              </a:rPr>
              <a:t>Prerequisite: The Merchant has an already created key-pair where the public key is published at 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</a:t>
            </a:r>
            <a:r>
              <a:rPr lang="en-US" sz="1350" b="0" i="0" dirty="0" err="1">
                <a:solidFill>
                  <a:srgbClr val="C00000"/>
                </a:solidFill>
                <a:effectLst/>
              </a:rPr>
              <a:t>validationKeyUrl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”</a:t>
            </a:r>
            <a:r>
              <a:rPr lang="en-US" sz="1350" dirty="0">
                <a:sym typeface="Wingdings" panose="05000000000000000000" pitchFamily="2" charset="2"/>
              </a:rPr>
              <a:t> 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350" dirty="0">
                <a:sym typeface="Wingdings" panose="05000000000000000000" pitchFamily="2" charset="2"/>
              </a:rPr>
              <a:t>The Merchant signs a newly created e-receipt using the private key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350" dirty="0">
                <a:sym typeface="Wingdings" panose="05000000000000000000" pitchFamily="2" charset="2"/>
              </a:rPr>
              <a:t>The Merchant publishes the signed e-receipt at 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</a:t>
            </a:r>
            <a:r>
              <a:rPr lang="en-US" sz="1350" b="0" i="0" dirty="0" err="1">
                <a:solidFill>
                  <a:srgbClr val="C00000"/>
                </a:solidFill>
                <a:effectLst/>
              </a:rPr>
              <a:t>receiptUrl</a:t>
            </a:r>
            <a:r>
              <a:rPr lang="en-US" sz="1350" b="0" i="0" dirty="0">
                <a:solidFill>
                  <a:srgbClr val="000000"/>
                </a:solidFill>
                <a:effectLst/>
              </a:rPr>
              <a:t>" </a:t>
            </a:r>
            <a:endParaRPr lang="en-US" sz="135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00015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472</Words>
  <Application>Microsoft Macintosh PowerPoint</Application>
  <PresentationFormat>On-screen Show (4:3)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Wingdings</vt:lpstr>
      <vt:lpstr>Custom Design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 Rundgren</dc:creator>
  <cp:lastModifiedBy>Microsoft Office User</cp:lastModifiedBy>
  <cp:revision>29</cp:revision>
  <dcterms:created xsi:type="dcterms:W3CDTF">2023-11-24T11:25:07Z</dcterms:created>
  <dcterms:modified xsi:type="dcterms:W3CDTF">2025-02-07T20:58:35Z</dcterms:modified>
</cp:coreProperties>
</file>