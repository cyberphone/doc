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4"/>
    <a:srgbClr val="FFFFB9"/>
    <a:srgbClr val="F6FAF4"/>
    <a:srgbClr val="FD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0" autoAdjust="0"/>
    <p:restoredTop sz="94694" autoAdjust="0"/>
  </p:normalViewPr>
  <p:slideViewPr>
    <p:cSldViewPr snapToGrid="0">
      <p:cViewPr varScale="1">
        <p:scale>
          <a:sx n="97" d="100"/>
          <a:sy n="97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3E85D6-A0AE-40B9-EDA8-F7E6D0687CF5}"/>
              </a:ext>
            </a:extLst>
          </p:cNvPr>
          <p:cNvSpPr/>
          <p:nvPr userDrawn="1"/>
        </p:nvSpPr>
        <p:spPr>
          <a:xfrm>
            <a:off x="68117" y="79283"/>
            <a:ext cx="1133544" cy="374571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This work is herby put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in the public domain</a:t>
            </a:r>
          </a:p>
        </p:txBody>
      </p:sp>
    </p:spTree>
    <p:extLst>
      <p:ext uri="{BB962C8B-B14F-4D97-AF65-F5344CB8AC3E}">
        <p14:creationId xmlns:p14="http://schemas.microsoft.com/office/powerpoint/2010/main" val="411017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ABC4-FEC2-58C3-E5E4-B82BE6C6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26D8-6451-3786-BDBC-3EB26B709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1772B-2D82-32DF-E1CA-B806F9C5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74E70-871C-E023-AAAC-CB3CC0CB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32AF3-197B-050F-B5AE-80FC8D53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1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AD4C-F8D4-9B3C-75F5-D31EF0DD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09836-994D-CAC2-13B0-438FF120C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9FF0-CB76-C5BD-24BE-8253DE371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8E4A-53F0-59E4-E828-C4EEF2CF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3B838-A92C-2319-3196-E4DFC406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F465-495A-B774-ED94-C0709E7B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9B8E-AED9-0C59-A339-74CC327A6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72A01-84FA-1E00-B0BF-49B01F38F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4D7E9-20A2-874E-5254-998F6EE3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D82A0-508B-B343-14CC-682661B6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CCC1F-B28F-D42B-B13F-12857296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1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F85E-BB49-CB9E-9A0A-63D51BD5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6315E-26AD-6AB4-2A59-E4FAC9AD7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CD47B-4796-ACAB-B132-CCCF2691F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5134B-5547-565B-8AC0-90126ED70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8DBE7-8823-4048-98CC-337F11C25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85EA2-F8B8-BC15-1282-6BD7690D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DA364-CF8A-EE59-5B9B-F0D94ACF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4A8D4-9EE8-A377-CDFE-A5C36099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8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75CC-4A28-4B4B-7A6D-F557F380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417A3-815A-329F-2E5E-BDEFE999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ABAB0-B7E2-4ECB-BA79-02199ECD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BA092-F7CF-5407-1A1A-B2F2A268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A4301-3CE0-F147-0703-48FB50A9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7FB94-A75D-51AA-0A41-4355E1A14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AE154-AC47-8769-D920-55E3DFDC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5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6D58-3BA3-B5F2-1488-8877FFCC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76FA-AAAA-5F2F-EC97-363A47D48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20927-FD35-C4A4-BBAB-DAC00A80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59B89-96A9-35CD-3442-3D3A0E5A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FEB4E-D8A2-B109-2903-4168BC83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68CE1-A69B-15AC-7E06-0A8DF7E1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5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04BB-B46E-FD3A-A2C1-C2D63EB4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44962-B1CD-A31C-2FB7-399FDE2DA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C53C3-14E3-D97E-F910-4820FD2AD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E6775-61EB-C3D7-576D-3E436999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89F35-B963-7D6A-C618-198CCCE5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71768-A60A-1884-D2D3-EF0BF093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9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24F0-9C2E-A818-08B5-23D76BEC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41E78-B256-5A16-B842-6F0844D45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F6679-025F-DECD-B76A-4A5631B4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C1AA-7CDD-B557-5DEB-BE2FDBF2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604D-9DAF-1CA8-4EFC-100DF04B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1B90B-072C-D628-9E3B-8477816D3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4926E-EF1D-DA32-6DD3-761E1043F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668EB-926E-3C7C-3146-69602214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EF19F-7DAB-9C6B-9519-CB96850E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05307-18FB-E98C-DCAB-0D9C78CD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6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9C349-C0DF-F2FF-D3E7-172B5BB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DE614-BF93-3DAF-DB02-CDC3205AD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48AE-5B53-77DA-F164-269DBE061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6055B-ABBD-4C0D-84D8-CCE0D097BF9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2D80-00D9-9FFE-BB75-D815773FD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6E07-EAAB-888F-5324-5392684C7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D7DFC-F0A5-42EB-90E4-43AB39A0B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2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CD7186-C6E2-3461-0C05-BA47BC1C6F91}"/>
              </a:ext>
            </a:extLst>
          </p:cNvPr>
          <p:cNvSpPr/>
          <p:nvPr/>
        </p:nvSpPr>
        <p:spPr>
          <a:xfrm>
            <a:off x="489433" y="2275389"/>
            <a:ext cx="11246675" cy="3201388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61992-EA1A-B21C-F268-8EE3B525AF3E}"/>
              </a:ext>
            </a:extLst>
          </p:cNvPr>
          <p:cNvSpPr txBox="1"/>
          <p:nvPr/>
        </p:nvSpPr>
        <p:spPr>
          <a:xfrm>
            <a:off x="3928585" y="279739"/>
            <a:ext cx="4334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Wallet – </a:t>
            </a:r>
            <a:r>
              <a:rPr lang="en-US" i="1" dirty="0">
                <a:latin typeface="Roboto Medium" panose="02000000000000000000" pitchFamily="2" charset="0"/>
                <a:ea typeface="Roboto Medium" panose="02000000000000000000" pitchFamily="2" charset="0"/>
              </a:rPr>
              <a:t>Enhancement of EMV Card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2CA91-BAA2-15C5-878B-8EAB2BFA8E32}"/>
              </a:ext>
            </a:extLst>
          </p:cNvPr>
          <p:cNvSpPr txBox="1"/>
          <p:nvPr/>
        </p:nvSpPr>
        <p:spPr>
          <a:xfrm>
            <a:off x="3041625" y="935880"/>
            <a:ext cx="363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EMV Primary Account Number (PAN)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8D4EFB-BC4A-DDC5-3827-4B334AD645E3}"/>
              </a:ext>
            </a:extLst>
          </p:cNvPr>
          <p:cNvSpPr txBox="1"/>
          <p:nvPr/>
        </p:nvSpPr>
        <p:spPr>
          <a:xfrm>
            <a:off x="6673657" y="938223"/>
            <a:ext cx="2210862" cy="350865"/>
          </a:xfrm>
          <a:prstGeom prst="rect">
            <a:avLst/>
          </a:prstGeom>
          <a:solidFill>
            <a:srgbClr val="F6FAF4">
              <a:alpha val="70000"/>
            </a:srgb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tIns="27432" rtlCol="0">
            <a:spAutoFit/>
          </a:bodyPr>
          <a:lstStyle/>
          <a:p>
            <a:pPr algn="ctr"/>
            <a:r>
              <a:rPr lang="en-US" noProof="1">
                <a:latin typeface="Consolas" panose="020B0609020204030204" pitchFamily="49" charset="0"/>
                <a:cs typeface="Courier New" panose="02070309020205020404" pitchFamily="49" charset="0"/>
              </a:rPr>
              <a:t>nnnnnnnnnnnnnnnn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929FA1-759C-93B0-A9C2-A5C7FA6799F3}"/>
              </a:ext>
            </a:extLst>
          </p:cNvPr>
          <p:cNvSpPr txBox="1"/>
          <p:nvPr/>
        </p:nvSpPr>
        <p:spPr>
          <a:xfrm>
            <a:off x="4621312" y="1812241"/>
            <a:ext cx="2859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“Decomposed” Counterpart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C9EE33-F184-905B-0A78-A090867373BE}"/>
              </a:ext>
            </a:extLst>
          </p:cNvPr>
          <p:cNvSpPr txBox="1"/>
          <p:nvPr/>
        </p:nvSpPr>
        <p:spPr>
          <a:xfrm>
            <a:off x="1644889" y="2674792"/>
            <a:ext cx="122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Account ID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513512-89A7-EB24-EFD9-CC1F7F68FAF3}"/>
              </a:ext>
            </a:extLst>
          </p:cNvPr>
          <p:cNvSpPr txBox="1"/>
          <p:nvPr/>
        </p:nvSpPr>
        <p:spPr>
          <a:xfrm>
            <a:off x="3141743" y="2669894"/>
            <a:ext cx="7312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noProof="1">
                <a:cs typeface="Courier New" panose="02070309020205020404" pitchFamily="49" charset="0"/>
              </a:rPr>
              <a:t>String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43415-F08E-D9F9-6465-D79AE8EB47DB}"/>
              </a:ext>
            </a:extLst>
          </p:cNvPr>
          <p:cNvSpPr txBox="1"/>
          <p:nvPr/>
        </p:nvSpPr>
        <p:spPr>
          <a:xfrm>
            <a:off x="697322" y="3732490"/>
            <a:ext cx="217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Payment Network 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75B1F4-775F-E04C-FBEE-39CC896F00F0}"/>
              </a:ext>
            </a:extLst>
          </p:cNvPr>
          <p:cNvSpPr txBox="1"/>
          <p:nvPr/>
        </p:nvSpPr>
        <p:spPr>
          <a:xfrm>
            <a:off x="3144479" y="3737166"/>
            <a:ext cx="14093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noProof="1">
                <a:cs typeface="Courier New" panose="02070309020205020404" pitchFamily="49" charset="0"/>
              </a:rPr>
              <a:t>URL or String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03AA31-931D-51B8-76F4-83E7886BACD1}"/>
              </a:ext>
            </a:extLst>
          </p:cNvPr>
          <p:cNvSpPr txBox="1"/>
          <p:nvPr/>
        </p:nvSpPr>
        <p:spPr>
          <a:xfrm>
            <a:off x="5169184" y="2431254"/>
            <a:ext cx="6062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Payment network compatible account identifier.</a:t>
            </a:r>
            <a:br>
              <a:rPr lang="en-US" sz="1600" dirty="0"/>
            </a:br>
            <a:r>
              <a:rPr lang="en-US" sz="1600" dirty="0"/>
              <a:t>Examples: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FR7630004003200001019471656</a:t>
            </a:r>
            <a:r>
              <a:rPr lang="en-US" sz="1600" dirty="0"/>
              <a:t> for a French IBAN and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4111111111111111</a:t>
            </a:r>
            <a:r>
              <a:rPr lang="en-US" sz="1600" dirty="0"/>
              <a:t> for a VISA card.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F0AE1E-767F-3DD9-4EB0-0C228135B769}"/>
              </a:ext>
            </a:extLst>
          </p:cNvPr>
          <p:cNvSpPr txBox="1"/>
          <p:nvPr/>
        </p:nvSpPr>
        <p:spPr>
          <a:xfrm>
            <a:off x="5169184" y="4534467"/>
            <a:ext cx="6558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URL to an issuer endpoint like: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https://mybank.fr/payment</a:t>
            </a:r>
            <a:r>
              <a:rPr lang="en-US" sz="1600" dirty="0"/>
              <a:t>.</a:t>
            </a:r>
          </a:p>
          <a:p>
            <a:r>
              <a:rPr lang="en-US" sz="1600" dirty="0"/>
              <a:t>This solution </a:t>
            </a:r>
            <a:r>
              <a:rPr lang="en-US" sz="1600"/>
              <a:t>eliminates PAN </a:t>
            </a:r>
            <a:r>
              <a:rPr lang="en-US" sz="1600" dirty="0"/>
              <a:t>to issuer URL lookup databases. An even better solution would be the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.well-known</a:t>
            </a:r>
            <a:r>
              <a:rPr lang="en-US" sz="1600" dirty="0"/>
              <a:t> extension concept.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064BF-17D4-B507-618E-121A14464429}"/>
              </a:ext>
            </a:extLst>
          </p:cNvPr>
          <p:cNvSpPr txBox="1"/>
          <p:nvPr/>
        </p:nvSpPr>
        <p:spPr>
          <a:xfrm>
            <a:off x="5169184" y="3478814"/>
            <a:ext cx="6337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Payment network identifier.</a:t>
            </a:r>
            <a:br>
              <a:rPr lang="en-US" sz="1600" dirty="0"/>
            </a:br>
            <a:r>
              <a:rPr lang="en-US" sz="1600" dirty="0"/>
              <a:t>Examples: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https://banknet2.org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600" dirty="0"/>
              <a:t>for a hypothetical bank network and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visa</a:t>
            </a:r>
            <a:r>
              <a:rPr lang="en-US" sz="1600" dirty="0"/>
              <a:t> for the VISA network.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32355-7E2A-015B-24A9-67280B5A7222}"/>
              </a:ext>
            </a:extLst>
          </p:cNvPr>
          <p:cNvSpPr txBox="1"/>
          <p:nvPr/>
        </p:nvSpPr>
        <p:spPr>
          <a:xfrm>
            <a:off x="826576" y="5816637"/>
            <a:ext cx="10713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variables above are the only elements that protocol-wise separate user authorizations for different payment networks, while from the user’s perspective, only card images differ.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29C7D7-02B2-7223-2945-B08377B3451A}"/>
              </a:ext>
            </a:extLst>
          </p:cNvPr>
          <p:cNvCxnSpPr>
            <a:cxnSpLocks/>
          </p:cNvCxnSpPr>
          <p:nvPr/>
        </p:nvCxnSpPr>
        <p:spPr>
          <a:xfrm>
            <a:off x="477077" y="3382158"/>
            <a:ext cx="1124667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8F4E50-4DBA-19DC-9FCF-38999050728F}"/>
              </a:ext>
            </a:extLst>
          </p:cNvPr>
          <p:cNvCxnSpPr>
            <a:cxnSpLocks/>
          </p:cNvCxnSpPr>
          <p:nvPr/>
        </p:nvCxnSpPr>
        <p:spPr>
          <a:xfrm>
            <a:off x="477077" y="4434218"/>
            <a:ext cx="1124667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Left 1">
            <a:extLst>
              <a:ext uri="{FF2B5EF4-FFF2-40B4-BE49-F238E27FC236}">
                <a16:creationId xmlns:a16="http://schemas.microsoft.com/office/drawing/2014/main" id="{35969DBD-AAC7-CB12-B2E6-76190BE0707E}"/>
              </a:ext>
            </a:extLst>
          </p:cNvPr>
          <p:cNvSpPr/>
          <p:nvPr/>
        </p:nvSpPr>
        <p:spPr>
          <a:xfrm rot="16200000">
            <a:off x="5931497" y="1504668"/>
            <a:ext cx="252000" cy="154800"/>
          </a:xfrm>
          <a:prstGeom prst="lef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565A6-E974-4DB6-51FD-8680C87065E2}"/>
              </a:ext>
            </a:extLst>
          </p:cNvPr>
          <p:cNvSpPr txBox="1"/>
          <p:nvPr/>
        </p:nvSpPr>
        <p:spPr>
          <a:xfrm>
            <a:off x="1859628" y="4765299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Issuer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EC9DB-1D81-DD15-07FD-5F895E0D1372}"/>
              </a:ext>
            </a:extLst>
          </p:cNvPr>
          <p:cNvSpPr txBox="1"/>
          <p:nvPr/>
        </p:nvSpPr>
        <p:spPr>
          <a:xfrm>
            <a:off x="3141743" y="4765299"/>
            <a:ext cx="18780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noProof="1">
                <a:cs typeface="Courier New" panose="02070309020205020404" pitchFamily="49" charset="0"/>
              </a:rPr>
              <a:t>URL or Host name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6141A1-3F97-1098-BA61-AF92900E6875}"/>
              </a:ext>
            </a:extLst>
          </p:cNvPr>
          <p:cNvCxnSpPr>
            <a:cxnSpLocks/>
          </p:cNvCxnSpPr>
          <p:nvPr/>
        </p:nvCxnSpPr>
        <p:spPr>
          <a:xfrm>
            <a:off x="3041625" y="2275389"/>
            <a:ext cx="0" cy="320009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F1380E-4ED5-8EAA-E158-B722B91FE1A7}"/>
              </a:ext>
            </a:extLst>
          </p:cNvPr>
          <p:cNvCxnSpPr>
            <a:cxnSpLocks/>
          </p:cNvCxnSpPr>
          <p:nvPr/>
        </p:nvCxnSpPr>
        <p:spPr>
          <a:xfrm>
            <a:off x="5059578" y="2275389"/>
            <a:ext cx="0" cy="320009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93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145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Courier New</vt:lpstr>
      <vt:lpstr>Roboto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Combining Wallets and FIDO2</dc:title>
  <dc:creator>Anders Rundgren</dc:creator>
  <cp:lastModifiedBy>Microsoft Office User</cp:lastModifiedBy>
  <cp:revision>149</cp:revision>
  <dcterms:created xsi:type="dcterms:W3CDTF">2022-09-20T11:19:36Z</dcterms:created>
  <dcterms:modified xsi:type="dcterms:W3CDTF">2024-05-31T00:33:42Z</dcterms:modified>
</cp:coreProperties>
</file>